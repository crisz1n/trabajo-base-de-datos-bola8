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Nunito"/>
      <p:regular r:id="rId30"/>
      <p:bold r:id="rId31"/>
      <p:italic r:id="rId32"/>
      <p:boldItalic r:id="rId33"/>
    </p:embeddedFont>
    <p:embeddedFont>
      <p:font typeface="Maven Pro"/>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6.xml"/><Relationship Id="rId33" Type="http://schemas.openxmlformats.org/officeDocument/2006/relationships/font" Target="fonts/Nunito-boldItalic.fntdata"/><Relationship Id="rId10" Type="http://schemas.openxmlformats.org/officeDocument/2006/relationships/slide" Target="slides/slide5.xml"/><Relationship Id="rId32" Type="http://schemas.openxmlformats.org/officeDocument/2006/relationships/font" Target="fonts/Nunito-italic.fntdata"/><Relationship Id="rId13" Type="http://schemas.openxmlformats.org/officeDocument/2006/relationships/slide" Target="slides/slide8.xml"/><Relationship Id="rId35" Type="http://schemas.openxmlformats.org/officeDocument/2006/relationships/font" Target="fonts/MavenPro-bold.fntdata"/><Relationship Id="rId12" Type="http://schemas.openxmlformats.org/officeDocument/2006/relationships/slide" Target="slides/slide7.xml"/><Relationship Id="rId34" Type="http://schemas.openxmlformats.org/officeDocument/2006/relationships/font" Target="fonts/MavenPro-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c6559dc4c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dc6559dc4c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091fa6e05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e091fa6e05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feca16a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dfeca16a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091fa6e05_2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e091fa6e05_2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e091fa6e05_2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e091fa6e05_2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e091fa6e05_2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e091fa6e05_2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e091fa6e05_2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e091fa6e05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c6559dc4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dc6559dc4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e091fa6e05_2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e091fa6e05_2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e091fa6e05_2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e091fa6e05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e091fa6e05_1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e091fa6e05_1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dfeca16a7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dfeca16a7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e091fa6e05_2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e091fa6e05_2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e091fa6e05_2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e091fa6e05_2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e091fa6e05_1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e091fa6e05_1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e091fa6e05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e091fa6e05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e091fa6e05_2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e091fa6e05_2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e091fa6e05_2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e091fa6e05_2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e091fa6e05_1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e091fa6e05_1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e091fa6e05_12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e091fa6e05_1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e091fa6e05_1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e091fa6e05_1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dfeca16a7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dfeca16a7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e091fa6e05_1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e091fa6e05_1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35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550" y="2712300"/>
            <a:ext cx="6366900" cy="1111200"/>
          </a:xfrm>
          <a:prstGeom prst="rect">
            <a:avLst/>
          </a:prstGeom>
          <a:gradFill>
            <a:gsLst>
              <a:gs pos="0">
                <a:srgbClr val="DCECD5"/>
              </a:gs>
              <a:gs pos="100000">
                <a:srgbClr val="92BC81"/>
              </a:gs>
            </a:gsLst>
            <a:lin ang="5400012" scaled="0"/>
          </a:gra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rgbClr val="000000"/>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4.png"/><Relationship Id="rId5"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398350" y="698850"/>
            <a:ext cx="51240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Crecimiento</a:t>
            </a:r>
            <a:r>
              <a:rPr lang="es-419"/>
              <a:t> de </a:t>
            </a:r>
            <a:r>
              <a:rPr lang="es-419"/>
              <a:t>índice</a:t>
            </a:r>
            <a:r>
              <a:rPr lang="es-419"/>
              <a:t> de natalidad en Chile</a:t>
            </a:r>
            <a:endParaRPr/>
          </a:p>
        </p:txBody>
      </p:sp>
      <p:sp>
        <p:nvSpPr>
          <p:cNvPr id="278" name="Google Shape;278;p13"/>
          <p:cNvSpPr txBox="1"/>
          <p:nvPr>
            <p:ph idx="1" type="subTitle"/>
          </p:nvPr>
        </p:nvSpPr>
        <p:spPr>
          <a:xfrm>
            <a:off x="555600" y="2674925"/>
            <a:ext cx="3835200" cy="13473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s-419" u="sng"/>
              <a:t>Integrantes:</a:t>
            </a:r>
            <a:endParaRPr b="1" u="sng"/>
          </a:p>
          <a:p>
            <a:pPr indent="0" lvl="0" marL="0" rtl="0" algn="l">
              <a:spcBef>
                <a:spcPts val="0"/>
              </a:spcBef>
              <a:spcAft>
                <a:spcPts val="0"/>
              </a:spcAft>
              <a:buNone/>
            </a:pPr>
            <a:r>
              <a:t/>
            </a:r>
            <a:endParaRPr b="1" u="sng"/>
          </a:p>
          <a:p>
            <a:pPr indent="-314960" lvl="0" marL="457200" rtl="0" algn="l">
              <a:spcBef>
                <a:spcPts val="0"/>
              </a:spcBef>
              <a:spcAft>
                <a:spcPts val="0"/>
              </a:spcAft>
              <a:buSzPct val="100000"/>
              <a:buChar char="●"/>
            </a:pPr>
            <a:r>
              <a:rPr lang="es-419"/>
              <a:t>Diego </a:t>
            </a:r>
            <a:r>
              <a:rPr lang="es-419"/>
              <a:t>Corales</a:t>
            </a:r>
            <a:endParaRPr/>
          </a:p>
          <a:p>
            <a:pPr indent="-314960" lvl="0" marL="457200" rtl="0" algn="l">
              <a:spcBef>
                <a:spcPts val="0"/>
              </a:spcBef>
              <a:spcAft>
                <a:spcPts val="0"/>
              </a:spcAft>
              <a:buSzPct val="100000"/>
              <a:buChar char="●"/>
            </a:pPr>
            <a:r>
              <a:rPr lang="es-419"/>
              <a:t>Benjamin </a:t>
            </a:r>
            <a:r>
              <a:rPr lang="es-419"/>
              <a:t>Riquelme</a:t>
            </a:r>
            <a:endParaRPr/>
          </a:p>
          <a:p>
            <a:pPr indent="-314960" lvl="0" marL="457200" rtl="0" algn="l">
              <a:spcBef>
                <a:spcPts val="0"/>
              </a:spcBef>
              <a:spcAft>
                <a:spcPts val="0"/>
              </a:spcAft>
              <a:buSzPct val="100000"/>
              <a:buChar char="●"/>
            </a:pPr>
            <a:r>
              <a:rPr lang="es-419"/>
              <a:t>Álvaro Guarda</a:t>
            </a:r>
            <a:endParaRPr/>
          </a:p>
          <a:p>
            <a:pPr indent="-314960" lvl="0" marL="457200" rtl="0" algn="l">
              <a:spcBef>
                <a:spcPts val="0"/>
              </a:spcBef>
              <a:spcAft>
                <a:spcPts val="0"/>
              </a:spcAft>
              <a:buSzPct val="100000"/>
              <a:buChar char="●"/>
            </a:pPr>
            <a:r>
              <a:rPr lang="es-419"/>
              <a:t>Cristóbal </a:t>
            </a:r>
            <a:r>
              <a:rPr lang="es-419"/>
              <a:t>Mansilla</a:t>
            </a:r>
            <a:endParaRPr/>
          </a:p>
          <a:p>
            <a:pPr indent="-314960" lvl="0" marL="457200" rtl="0" algn="l">
              <a:spcBef>
                <a:spcPts val="0"/>
              </a:spcBef>
              <a:spcAft>
                <a:spcPts val="0"/>
              </a:spcAft>
              <a:buSzPct val="100000"/>
              <a:buChar char="●"/>
            </a:pPr>
            <a:r>
              <a:rPr lang="es-419"/>
              <a:t>Rayen Aburto</a:t>
            </a:r>
            <a:endParaRPr/>
          </a:p>
        </p:txBody>
      </p:sp>
      <p:pic>
        <p:nvPicPr>
          <p:cNvPr id="279" name="Google Shape;279;p13"/>
          <p:cNvPicPr preferRelativeResize="0"/>
          <p:nvPr/>
        </p:nvPicPr>
        <p:blipFill>
          <a:blip r:embed="rId3">
            <a:alphaModFix/>
          </a:blip>
          <a:stretch>
            <a:fillRect/>
          </a:stretch>
        </p:blipFill>
        <p:spPr>
          <a:xfrm>
            <a:off x="7701410" y="233250"/>
            <a:ext cx="1115314" cy="1347300"/>
          </a:xfrm>
          <a:prstGeom prst="rect">
            <a:avLst/>
          </a:prstGeom>
          <a:noFill/>
          <a:ln>
            <a:noFill/>
          </a:ln>
        </p:spPr>
      </p:pic>
      <p:sp>
        <p:nvSpPr>
          <p:cNvPr id="280" name="Google Shape;280;p13"/>
          <p:cNvSpPr txBox="1"/>
          <p:nvPr>
            <p:ph idx="1" type="subTitle"/>
          </p:nvPr>
        </p:nvSpPr>
        <p:spPr>
          <a:xfrm>
            <a:off x="606225" y="4022225"/>
            <a:ext cx="3835200" cy="134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300" u="sng"/>
              <a:t>Docente</a:t>
            </a:r>
            <a:r>
              <a:rPr b="1" lang="es-419" sz="1300" u="sng"/>
              <a:t>:</a:t>
            </a:r>
            <a:endParaRPr b="1" sz="1300" u="sng"/>
          </a:p>
          <a:p>
            <a:pPr indent="0" lvl="0" marL="0" rtl="0" algn="l">
              <a:spcBef>
                <a:spcPts val="0"/>
              </a:spcBef>
              <a:spcAft>
                <a:spcPts val="0"/>
              </a:spcAft>
              <a:buNone/>
            </a:pPr>
            <a:r>
              <a:t/>
            </a:r>
            <a:endParaRPr b="1" sz="1300" u="sng"/>
          </a:p>
          <a:p>
            <a:pPr indent="-311150" lvl="0" marL="457200" rtl="0" algn="l">
              <a:spcBef>
                <a:spcPts val="0"/>
              </a:spcBef>
              <a:spcAft>
                <a:spcPts val="0"/>
              </a:spcAft>
              <a:buSzPts val="1300"/>
              <a:buChar char="●"/>
            </a:pPr>
            <a:r>
              <a:rPr lang="es-419" sz="1300"/>
              <a:t>Luis Veas</a:t>
            </a: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4"/>
          <p:cNvSpPr txBox="1"/>
          <p:nvPr>
            <p:ph type="title"/>
          </p:nvPr>
        </p:nvSpPr>
        <p:spPr>
          <a:xfrm>
            <a:off x="1388625" y="543275"/>
            <a:ext cx="6255900" cy="48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s-419" sz="3500"/>
              <a:t>Introducción</a:t>
            </a:r>
            <a:endParaRPr sz="3500"/>
          </a:p>
        </p:txBody>
      </p:sp>
      <p:sp>
        <p:nvSpPr>
          <p:cNvPr id="286" name="Google Shape;286;p14"/>
          <p:cNvSpPr txBox="1"/>
          <p:nvPr>
            <p:ph idx="1" type="body"/>
          </p:nvPr>
        </p:nvSpPr>
        <p:spPr>
          <a:xfrm>
            <a:off x="1042900" y="1437150"/>
            <a:ext cx="7232400" cy="3315600"/>
          </a:xfrm>
          <a:prstGeom prst="rect">
            <a:avLst/>
          </a:prstGeom>
          <a:gradFill>
            <a:gsLst>
              <a:gs pos="0">
                <a:srgbClr val="DCECD5"/>
              </a:gs>
              <a:gs pos="100000">
                <a:srgbClr val="92BC81"/>
              </a:gs>
            </a:gsLst>
            <a:lin ang="5400012" scaled="0"/>
          </a:gradFill>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1400"/>
              </a:spcBef>
              <a:spcAft>
                <a:spcPts val="0"/>
              </a:spcAft>
              <a:buNone/>
            </a:pPr>
            <a:r>
              <a:rPr b="1" lang="es-419" sz="1100">
                <a:latin typeface="Arial"/>
                <a:ea typeface="Arial"/>
                <a:cs typeface="Arial"/>
                <a:sym typeface="Arial"/>
              </a:rPr>
              <a:t>El Fenómeno: Invierno Demográfico</a:t>
            </a:r>
            <a:endParaRPr b="1" sz="1100">
              <a:latin typeface="Arial"/>
              <a:ea typeface="Arial"/>
              <a:cs typeface="Arial"/>
              <a:sym typeface="Arial"/>
            </a:endParaRPr>
          </a:p>
          <a:p>
            <a:pPr indent="0" lvl="0" marL="0" rtl="0" algn="l">
              <a:spcBef>
                <a:spcPts val="1200"/>
              </a:spcBef>
              <a:spcAft>
                <a:spcPts val="0"/>
              </a:spcAft>
              <a:buNone/>
            </a:pPr>
            <a:r>
              <a:rPr lang="es-419" sz="1100">
                <a:latin typeface="Arial"/>
                <a:ea typeface="Arial"/>
                <a:cs typeface="Arial"/>
                <a:sym typeface="Arial"/>
              </a:rPr>
              <a:t>Chile enfrenta hoy un 'invierno demográfico': una caída de la natalidad más rápida de lo proyectado. Para dimensionar el cambio: en 1960 la tasa era de 5,5 hijos por mujer; actualmente es de 1,03(#171 a nivel mundial), </a:t>
            </a:r>
            <a:r>
              <a:rPr lang="es-419" sz="1100">
                <a:latin typeface="Arial"/>
                <a:ea typeface="Arial"/>
                <a:cs typeface="Arial"/>
                <a:sym typeface="Arial"/>
              </a:rPr>
              <a:t>situándose</a:t>
            </a:r>
            <a:r>
              <a:rPr lang="es-419" sz="1100">
                <a:latin typeface="Arial"/>
                <a:ea typeface="Arial"/>
                <a:cs typeface="Arial"/>
                <a:sym typeface="Arial"/>
              </a:rPr>
              <a:t> muy por debajo del reemplazo generacional de 2,2.</a:t>
            </a:r>
            <a:endParaRPr sz="1100">
              <a:latin typeface="Arial"/>
              <a:ea typeface="Arial"/>
              <a:cs typeface="Arial"/>
              <a:sym typeface="Arial"/>
            </a:endParaRPr>
          </a:p>
          <a:p>
            <a:pPr indent="0" lvl="0" marL="0" rtl="0" algn="l">
              <a:spcBef>
                <a:spcPts val="1200"/>
              </a:spcBef>
              <a:spcAft>
                <a:spcPts val="0"/>
              </a:spcAft>
              <a:buNone/>
            </a:pPr>
            <a:r>
              <a:rPr b="1" lang="es-419" sz="1100">
                <a:latin typeface="Arial"/>
                <a:ea typeface="Arial"/>
                <a:cs typeface="Arial"/>
                <a:sym typeface="Arial"/>
              </a:rPr>
              <a:t>Causas y Motivación</a:t>
            </a:r>
            <a:endParaRPr b="1" sz="1100">
              <a:latin typeface="Arial"/>
              <a:ea typeface="Arial"/>
              <a:cs typeface="Arial"/>
              <a:sym typeface="Arial"/>
            </a:endParaRPr>
          </a:p>
          <a:p>
            <a:pPr indent="0" lvl="0" marL="0" rtl="0" algn="l">
              <a:spcBef>
                <a:spcPts val="400"/>
              </a:spcBef>
              <a:spcAft>
                <a:spcPts val="0"/>
              </a:spcAft>
              <a:buNone/>
            </a:pPr>
            <a:r>
              <a:rPr lang="es-419" sz="1100">
                <a:latin typeface="Arial"/>
                <a:ea typeface="Arial"/>
                <a:cs typeface="Arial"/>
                <a:sym typeface="Arial"/>
              </a:rPr>
              <a:t>Este descenso responde a factores críticos como los altos costos de vida (vivienda, salud, educación) y la precariedad laboral, que obligan a postergar la maternidad y paternidad.Nuestra interrogante es: ¿Cómo se reflejan estos cambios sociales en los datos duros y qué impacto tienen en el futuro del país?.</a:t>
            </a:r>
            <a:endParaRPr sz="1100">
              <a:latin typeface="Arial"/>
              <a:ea typeface="Arial"/>
              <a:cs typeface="Arial"/>
              <a:sym typeface="Arial"/>
            </a:endParaRPr>
          </a:p>
          <a:p>
            <a:pPr indent="0" lvl="0" marL="0" rtl="0" algn="l">
              <a:spcBef>
                <a:spcPts val="1200"/>
              </a:spcBef>
              <a:spcAft>
                <a:spcPts val="0"/>
              </a:spcAft>
              <a:buNone/>
            </a:pPr>
            <a:r>
              <a:rPr b="1" lang="es-419" sz="1100">
                <a:latin typeface="Arial"/>
                <a:ea typeface="Arial"/>
                <a:cs typeface="Arial"/>
                <a:sym typeface="Arial"/>
              </a:rPr>
              <a:t>Objetivo y Herramientas</a:t>
            </a:r>
            <a:endParaRPr b="1" sz="1100">
              <a:latin typeface="Arial"/>
              <a:ea typeface="Arial"/>
              <a:cs typeface="Arial"/>
              <a:sym typeface="Arial"/>
            </a:endParaRPr>
          </a:p>
          <a:p>
            <a:pPr indent="0" lvl="0" marL="0" rtl="0" algn="l">
              <a:spcBef>
                <a:spcPts val="400"/>
              </a:spcBef>
              <a:spcAft>
                <a:spcPts val="0"/>
              </a:spcAft>
              <a:buNone/>
            </a:pPr>
            <a:r>
              <a:rPr lang="es-419" sz="1100">
                <a:latin typeface="Arial"/>
                <a:ea typeface="Arial"/>
                <a:cs typeface="Arial"/>
                <a:sym typeface="Arial"/>
              </a:rPr>
              <a:t>El objetivo de este trabajo es analizar la natalidad en Chile entre 2010 y 2022, evaluando variables socioeconómicas. Para ello, aplicamos Computación Científica con Python, procesando datos oficiales del INE y el DEIS para identificar correlaciones clave entre el nivel educacional, el estado civil y este declive sostenido.</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1200"/>
              </a:spcAft>
              <a:buNone/>
            </a:pPr>
            <a:r>
              <a:t/>
            </a:r>
            <a:endParaRPr sz="11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5"/>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Preguntas de investigación a analizar</a:t>
            </a:r>
            <a:endParaRPr/>
          </a:p>
        </p:txBody>
      </p:sp>
      <p:sp>
        <p:nvSpPr>
          <p:cNvPr id="292" name="Google Shape;292;p15"/>
          <p:cNvSpPr txBox="1"/>
          <p:nvPr>
            <p:ph idx="1" type="body"/>
          </p:nvPr>
        </p:nvSpPr>
        <p:spPr>
          <a:xfrm>
            <a:off x="1388550" y="2712300"/>
            <a:ext cx="6366900" cy="11112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rgbClr val="000000"/>
              </a:buClr>
              <a:buSzPts val="1100"/>
              <a:buChar char="●"/>
            </a:pPr>
            <a:r>
              <a:rPr lang="es-419" sz="1100"/>
              <a:t>¿</a:t>
            </a:r>
            <a:r>
              <a:rPr lang="es-419" sz="1100"/>
              <a:t>Qué</a:t>
            </a:r>
            <a:r>
              <a:rPr lang="es-419" sz="1100"/>
              <a:t> tendencias poblacionales se proyectan a largo plazo a partir de la </a:t>
            </a:r>
            <a:r>
              <a:rPr lang="es-419" sz="1100"/>
              <a:t>evolución</a:t>
            </a:r>
            <a:r>
              <a:rPr lang="es-419" sz="1100"/>
              <a:t> de la natalidad en Chile?</a:t>
            </a:r>
            <a:endParaRPr sz="1100"/>
          </a:p>
          <a:p>
            <a:pPr indent="-298450" lvl="0" marL="457200" rtl="0" algn="l">
              <a:spcBef>
                <a:spcPts val="0"/>
              </a:spcBef>
              <a:spcAft>
                <a:spcPts val="0"/>
              </a:spcAft>
              <a:buClr>
                <a:srgbClr val="000000"/>
              </a:buClr>
              <a:buSzPts val="1100"/>
              <a:buChar char="●"/>
            </a:pPr>
            <a:r>
              <a:rPr lang="es-419" sz="1100"/>
              <a:t>¿</a:t>
            </a:r>
            <a:r>
              <a:rPr lang="es-419" sz="1100"/>
              <a:t>Cuales</a:t>
            </a:r>
            <a:r>
              <a:rPr lang="es-419" sz="1100"/>
              <a:t> son los principales factores </a:t>
            </a:r>
            <a:r>
              <a:rPr lang="es-419" sz="1100"/>
              <a:t>socioeconómicos</a:t>
            </a:r>
            <a:r>
              <a:rPr lang="es-419" sz="1100"/>
              <a:t> y </a:t>
            </a:r>
            <a:r>
              <a:rPr lang="es-419" sz="1100"/>
              <a:t>demográficos</a:t>
            </a:r>
            <a:r>
              <a:rPr lang="es-419" sz="1100"/>
              <a:t> que han influido en el descenso de la natalidad en los </a:t>
            </a:r>
            <a:r>
              <a:rPr lang="es-419" sz="1100"/>
              <a:t>últimos</a:t>
            </a:r>
            <a:r>
              <a:rPr lang="es-419" sz="1100"/>
              <a:t> años?</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6"/>
          <p:cNvSpPr txBox="1"/>
          <p:nvPr>
            <p:ph type="title"/>
          </p:nvPr>
        </p:nvSpPr>
        <p:spPr>
          <a:xfrm>
            <a:off x="822900" y="343275"/>
            <a:ext cx="7498200" cy="13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s-419"/>
              <a:t>Metodología</a:t>
            </a:r>
            <a:r>
              <a:rPr lang="es-419"/>
              <a:t>: Herramientas, flujo de trabajo y fuentes oficiales</a:t>
            </a:r>
            <a:r>
              <a:rPr lang="es-419" sz="3500"/>
              <a:t> </a:t>
            </a:r>
            <a:endParaRPr sz="3500"/>
          </a:p>
        </p:txBody>
      </p:sp>
      <p:sp>
        <p:nvSpPr>
          <p:cNvPr id="298" name="Google Shape;298;p16"/>
          <p:cNvSpPr txBox="1"/>
          <p:nvPr>
            <p:ph idx="1" type="body"/>
          </p:nvPr>
        </p:nvSpPr>
        <p:spPr>
          <a:xfrm>
            <a:off x="1140525" y="1799325"/>
            <a:ext cx="7356600" cy="1325100"/>
          </a:xfrm>
          <a:prstGeom prst="rect">
            <a:avLst/>
          </a:prstGeom>
          <a:gradFill>
            <a:gsLst>
              <a:gs pos="0">
                <a:srgbClr val="DCECD5"/>
              </a:gs>
              <a:gs pos="100000">
                <a:srgbClr val="92BC81"/>
              </a:gs>
            </a:gsLst>
            <a:lin ang="5400012" scaled="0"/>
          </a:gradFill>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spcBef>
                <a:spcPts val="0"/>
              </a:spcBef>
              <a:spcAft>
                <a:spcPts val="0"/>
              </a:spcAft>
              <a:buNone/>
            </a:pPr>
            <a:r>
              <a:rPr b="1" lang="es-419" sz="1100" u="sng"/>
              <a:t>Herramientas</a:t>
            </a:r>
            <a:r>
              <a:rPr b="1" lang="es-419" sz="1100" u="sng"/>
              <a:t>:</a:t>
            </a:r>
            <a:endParaRPr b="1" sz="1100" u="sng"/>
          </a:p>
          <a:p>
            <a:pPr indent="0" lvl="0" marL="0" rtl="0" algn="l">
              <a:spcBef>
                <a:spcPts val="0"/>
              </a:spcBef>
              <a:spcAft>
                <a:spcPts val="0"/>
              </a:spcAft>
              <a:buNone/>
            </a:pPr>
            <a:r>
              <a:t/>
            </a:r>
            <a:endParaRPr b="1" sz="1100" u="sng"/>
          </a:p>
          <a:p>
            <a:pPr indent="-298450" lvl="0" marL="457200" rtl="0" algn="l">
              <a:spcBef>
                <a:spcPts val="0"/>
              </a:spcBef>
              <a:spcAft>
                <a:spcPts val="0"/>
              </a:spcAft>
              <a:buClr>
                <a:srgbClr val="000000"/>
              </a:buClr>
              <a:buSzPts val="1100"/>
              <a:buChar char="●"/>
            </a:pPr>
            <a:r>
              <a:rPr b="1" lang="es-419" sz="1100">
                <a:solidFill>
                  <a:srgbClr val="000000"/>
                </a:solidFill>
              </a:rPr>
              <a:t>Pandas:</a:t>
            </a:r>
            <a:r>
              <a:rPr lang="es-419" sz="1100">
                <a:solidFill>
                  <a:srgbClr val="000000"/>
                </a:solidFill>
              </a:rPr>
              <a:t> </a:t>
            </a:r>
            <a:r>
              <a:rPr lang="es-419" sz="1100"/>
              <a:t>P</a:t>
            </a:r>
            <a:r>
              <a:rPr lang="es-419" sz="1100">
                <a:solidFill>
                  <a:srgbClr val="000000"/>
                </a:solidFill>
              </a:rPr>
              <a:t>ara la limpieza y estructuración de los datos.</a:t>
            </a:r>
            <a:endParaRPr sz="1100">
              <a:solidFill>
                <a:srgbClr val="000000"/>
              </a:solidFill>
            </a:endParaRPr>
          </a:p>
          <a:p>
            <a:pPr indent="-298450" lvl="0" marL="457200" rtl="0" algn="l">
              <a:spcBef>
                <a:spcPts val="0"/>
              </a:spcBef>
              <a:spcAft>
                <a:spcPts val="0"/>
              </a:spcAft>
              <a:buClr>
                <a:srgbClr val="000000"/>
              </a:buClr>
              <a:buSzPts val="1100"/>
              <a:buChar char="●"/>
            </a:pPr>
            <a:r>
              <a:rPr b="1" lang="es-419" sz="1100">
                <a:solidFill>
                  <a:srgbClr val="000000"/>
                </a:solidFill>
              </a:rPr>
              <a:t>Matplotlib y Seaborn:</a:t>
            </a:r>
            <a:r>
              <a:rPr lang="es-419" sz="1100">
                <a:solidFill>
                  <a:srgbClr val="000000"/>
                </a:solidFill>
              </a:rPr>
              <a:t> </a:t>
            </a:r>
            <a:r>
              <a:rPr lang="es-419" sz="1100"/>
              <a:t>Estas librerías las usamos para convertir los números en gráficos</a:t>
            </a:r>
            <a:r>
              <a:rPr lang="es-419" sz="1100">
                <a:solidFill>
                  <a:srgbClr val="000000"/>
                </a:solidFill>
              </a:rPr>
              <a:t>.</a:t>
            </a:r>
            <a:endParaRPr sz="1100">
              <a:solidFill>
                <a:srgbClr val="000000"/>
              </a:solidFill>
            </a:endParaRPr>
          </a:p>
          <a:p>
            <a:pPr indent="-298450" lvl="0" marL="457200" rtl="0" algn="l">
              <a:spcBef>
                <a:spcPts val="0"/>
              </a:spcBef>
              <a:spcAft>
                <a:spcPts val="0"/>
              </a:spcAft>
              <a:buClr>
                <a:srgbClr val="000000"/>
              </a:buClr>
              <a:buSzPts val="1100"/>
              <a:buChar char="●"/>
            </a:pPr>
            <a:r>
              <a:rPr b="1" lang="es-419" sz="1100"/>
              <a:t>Numpy:</a:t>
            </a:r>
            <a:r>
              <a:rPr lang="es-419" sz="1100"/>
              <a:t> Para trabajar con datos </a:t>
            </a:r>
            <a:r>
              <a:rPr lang="es-419" sz="1100"/>
              <a:t>numéricos</a:t>
            </a:r>
            <a:r>
              <a:rPr lang="es-419" sz="1100"/>
              <a:t> </a:t>
            </a:r>
            <a:r>
              <a:rPr lang="es-419" sz="1100"/>
              <a:t>estadísticos</a:t>
            </a:r>
            <a:endParaRPr sz="1100"/>
          </a:p>
          <a:p>
            <a:pPr indent="-298450" lvl="0" marL="457200" rtl="0" algn="l">
              <a:spcBef>
                <a:spcPts val="0"/>
              </a:spcBef>
              <a:spcAft>
                <a:spcPts val="0"/>
              </a:spcAft>
              <a:buClr>
                <a:srgbClr val="000000"/>
              </a:buClr>
              <a:buSzPts val="1100"/>
              <a:buChar char="●"/>
            </a:pPr>
            <a:r>
              <a:rPr b="1" lang="es-419" sz="1100">
                <a:solidFill>
                  <a:srgbClr val="000000"/>
                </a:solidFill>
              </a:rPr>
              <a:t>Jupyter Notebook:</a:t>
            </a:r>
            <a:r>
              <a:rPr lang="es-419" sz="1100">
                <a:solidFill>
                  <a:srgbClr val="000000"/>
                </a:solidFill>
              </a:rPr>
              <a:t> </a:t>
            </a:r>
            <a:r>
              <a:rPr lang="es-419" sz="1100"/>
              <a:t>P</a:t>
            </a:r>
            <a:r>
              <a:rPr lang="es-419" sz="1100">
                <a:solidFill>
                  <a:srgbClr val="000000"/>
                </a:solidFill>
              </a:rPr>
              <a:t>ara asegurar la reproducibilidad del flujo.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7"/>
          <p:cNvSpPr txBox="1"/>
          <p:nvPr>
            <p:ph idx="1" type="body"/>
          </p:nvPr>
        </p:nvSpPr>
        <p:spPr>
          <a:xfrm>
            <a:off x="623425" y="1271550"/>
            <a:ext cx="3648000" cy="26004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0"/>
              </a:spcBef>
              <a:spcAft>
                <a:spcPts val="0"/>
              </a:spcAft>
              <a:buNone/>
            </a:pPr>
            <a:r>
              <a:rPr b="1" lang="es-419" sz="1100" u="sng"/>
              <a:t>Flujo de trabajo:</a:t>
            </a:r>
            <a:endParaRPr b="1" sz="1100" u="sng"/>
          </a:p>
          <a:p>
            <a:pPr indent="-293211" lvl="0" marL="457200" rtl="0" algn="just">
              <a:spcBef>
                <a:spcPts val="1200"/>
              </a:spcBef>
              <a:spcAft>
                <a:spcPts val="0"/>
              </a:spcAft>
              <a:buClr>
                <a:srgbClr val="000000"/>
              </a:buClr>
              <a:buSzPct val="100000"/>
              <a:buAutoNum type="arabicPeriod"/>
            </a:pPr>
            <a:r>
              <a:rPr b="1" lang="es-419" sz="1100"/>
              <a:t>Carga de datos: </a:t>
            </a:r>
            <a:r>
              <a:rPr lang="es-419" sz="1100"/>
              <a:t>A partir de archivos .csv y .xlsx con registros a lo largo de los años.</a:t>
            </a:r>
            <a:endParaRPr sz="1100"/>
          </a:p>
          <a:p>
            <a:pPr indent="-293211" lvl="0" marL="457200" rtl="0" algn="just">
              <a:spcBef>
                <a:spcPts val="0"/>
              </a:spcBef>
              <a:spcAft>
                <a:spcPts val="0"/>
              </a:spcAft>
              <a:buClr>
                <a:srgbClr val="000000"/>
              </a:buClr>
              <a:buSzPct val="100000"/>
              <a:buAutoNum type="arabicPeriod"/>
            </a:pPr>
            <a:r>
              <a:rPr b="1" lang="es-419" sz="1100"/>
              <a:t>Preprocesamiento y Normalización: </a:t>
            </a:r>
            <a:r>
              <a:rPr lang="es-419" sz="1100"/>
              <a:t>Limpieza de nulos, corrección de tipos y homogeneización de categorías.</a:t>
            </a:r>
            <a:endParaRPr sz="1100"/>
          </a:p>
          <a:p>
            <a:pPr indent="-293211" lvl="0" marL="457200" rtl="0" algn="l">
              <a:spcBef>
                <a:spcPts val="0"/>
              </a:spcBef>
              <a:spcAft>
                <a:spcPts val="0"/>
              </a:spcAft>
              <a:buClr>
                <a:srgbClr val="000000"/>
              </a:buClr>
              <a:buSzPct val="100000"/>
              <a:buAutoNum type="arabicPeriod"/>
            </a:pPr>
            <a:r>
              <a:rPr b="1" lang="es-419" sz="1100"/>
              <a:t>Selección</a:t>
            </a:r>
            <a:r>
              <a:rPr b="1" lang="es-419" sz="1100"/>
              <a:t> de variables en las tablas: </a:t>
            </a:r>
            <a:r>
              <a:rPr lang="es-419" sz="1100"/>
              <a:t>Selección</a:t>
            </a:r>
            <a:r>
              <a:rPr lang="es-419" sz="1100"/>
              <a:t> de variables a </a:t>
            </a:r>
            <a:r>
              <a:rPr lang="es-419" sz="1100"/>
              <a:t>investigar</a:t>
            </a:r>
            <a:r>
              <a:rPr lang="es-419" sz="1100"/>
              <a:t> para graficar y mapear datos. (ej MES_NAC, ANO_NAC, GRUPO_ETARIO_MADRE, NIVEL_MADRE, etc.)</a:t>
            </a:r>
            <a:endParaRPr sz="1100"/>
          </a:p>
          <a:p>
            <a:pPr indent="-293211" lvl="0" marL="457200" rtl="0" algn="just">
              <a:spcBef>
                <a:spcPts val="0"/>
              </a:spcBef>
              <a:spcAft>
                <a:spcPts val="0"/>
              </a:spcAft>
              <a:buClr>
                <a:srgbClr val="000000"/>
              </a:buClr>
              <a:buSzPct val="100000"/>
              <a:buAutoNum type="arabicPeriod"/>
            </a:pPr>
            <a:r>
              <a:rPr b="1" lang="es-419" sz="1100"/>
              <a:t>Análisis</a:t>
            </a:r>
            <a:r>
              <a:rPr b="1" lang="es-419" sz="1100"/>
              <a:t> de resultados: </a:t>
            </a:r>
            <a:r>
              <a:rPr lang="es-419" sz="1100"/>
              <a:t>Gráficos</a:t>
            </a:r>
            <a:r>
              <a:rPr lang="es-419" sz="1100"/>
              <a:t> y mapas de calor a </a:t>
            </a:r>
            <a:r>
              <a:rPr lang="es-419" sz="1100"/>
              <a:t>través</a:t>
            </a:r>
            <a:r>
              <a:rPr lang="es-419" sz="1100"/>
              <a:t> de los años para hacer </a:t>
            </a:r>
            <a:r>
              <a:rPr lang="es-419" sz="1100"/>
              <a:t>más</a:t>
            </a:r>
            <a:r>
              <a:rPr lang="es-419" sz="1100"/>
              <a:t> </a:t>
            </a:r>
            <a:r>
              <a:rPr lang="es-419" sz="1100"/>
              <a:t>fácil</a:t>
            </a:r>
            <a:r>
              <a:rPr lang="es-419" sz="1100"/>
              <a:t> una comparativa visual.</a:t>
            </a:r>
            <a:endParaRPr sz="1100"/>
          </a:p>
          <a:p>
            <a:pPr indent="0" lvl="0" marL="0" rtl="0" algn="just">
              <a:spcBef>
                <a:spcPts val="1200"/>
              </a:spcBef>
              <a:spcAft>
                <a:spcPts val="1200"/>
              </a:spcAft>
              <a:buNone/>
            </a:pPr>
            <a:r>
              <a:t/>
            </a:r>
            <a:endParaRPr b="1" sz="1100" u="sng"/>
          </a:p>
        </p:txBody>
      </p:sp>
      <p:sp>
        <p:nvSpPr>
          <p:cNvPr id="304" name="Google Shape;304;p17"/>
          <p:cNvSpPr txBox="1"/>
          <p:nvPr>
            <p:ph idx="1" type="body"/>
          </p:nvPr>
        </p:nvSpPr>
        <p:spPr>
          <a:xfrm>
            <a:off x="4572000" y="1271550"/>
            <a:ext cx="3648000" cy="26004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b="1" lang="es-419" sz="1100" u="sng"/>
              <a:t>Fuentes:</a:t>
            </a:r>
            <a:endParaRPr b="1" sz="1100" u="sng"/>
          </a:p>
          <a:p>
            <a:pPr indent="-298450" lvl="0" marL="457200" rtl="0" algn="just">
              <a:spcBef>
                <a:spcPts val="1200"/>
              </a:spcBef>
              <a:spcAft>
                <a:spcPts val="0"/>
              </a:spcAft>
              <a:buClr>
                <a:srgbClr val="000000"/>
              </a:buClr>
              <a:buSzPts val="1100"/>
              <a:buChar char="●"/>
            </a:pPr>
            <a:r>
              <a:rPr b="1" lang="es-419" sz="1100"/>
              <a:t>DEIS (Ministerio de salud): </a:t>
            </a:r>
            <a:r>
              <a:rPr lang="es-419" sz="1100"/>
              <a:t>Nacimientos por mes, año, región, edad y nivel educacional de la madre</a:t>
            </a:r>
            <a:endParaRPr sz="1100"/>
          </a:p>
          <a:p>
            <a:pPr indent="-298450" lvl="0" marL="457200" rtl="0" algn="just">
              <a:spcBef>
                <a:spcPts val="0"/>
              </a:spcBef>
              <a:spcAft>
                <a:spcPts val="0"/>
              </a:spcAft>
              <a:buClr>
                <a:srgbClr val="000000"/>
              </a:buClr>
              <a:buSzPts val="1100"/>
              <a:buChar char="●"/>
            </a:pPr>
            <a:r>
              <a:rPr b="1" lang="es-419" sz="1100"/>
              <a:t>INE (</a:t>
            </a:r>
            <a:r>
              <a:rPr b="1" lang="es-419" sz="1100"/>
              <a:t>Estadísticas</a:t>
            </a:r>
            <a:r>
              <a:rPr b="1" lang="es-419" sz="1100"/>
              <a:t> vitales):</a:t>
            </a:r>
            <a:r>
              <a:rPr lang="es-419" sz="1100"/>
              <a:t> Tasa de natalidad, estado civil, distribución geográfica de nacimientos</a:t>
            </a:r>
            <a:endParaRPr sz="1100"/>
          </a:p>
          <a:p>
            <a:pPr indent="-298450" lvl="0" marL="457200" rtl="0" algn="just">
              <a:spcBef>
                <a:spcPts val="0"/>
              </a:spcBef>
              <a:spcAft>
                <a:spcPts val="0"/>
              </a:spcAft>
              <a:buClr>
                <a:srgbClr val="000000"/>
              </a:buClr>
              <a:buSzPts val="1100"/>
              <a:buChar char="●"/>
            </a:pPr>
            <a:r>
              <a:rPr b="1" lang="es-419" sz="1100"/>
              <a:t>Banco mundial (Indicadores de desarrollo mundial):</a:t>
            </a:r>
            <a:r>
              <a:rPr lang="es-419" sz="1100"/>
              <a:t> Tasa de fertilidad total (hijos/mujer) para comparación internacional</a:t>
            </a:r>
            <a:endParaRPr sz="1100"/>
          </a:p>
          <a:p>
            <a:pPr indent="0" lvl="0" marL="0" rtl="0" algn="just">
              <a:spcBef>
                <a:spcPts val="1200"/>
              </a:spcBef>
              <a:spcAft>
                <a:spcPts val="0"/>
              </a:spcAft>
              <a:buNone/>
            </a:pPr>
            <a:r>
              <a:t/>
            </a:r>
            <a:endParaRPr b="1" sz="1100" u="sng"/>
          </a:p>
          <a:p>
            <a:pPr indent="0" lvl="0" marL="0" rtl="0" algn="just">
              <a:spcBef>
                <a:spcPts val="1200"/>
              </a:spcBef>
              <a:spcAft>
                <a:spcPts val="1200"/>
              </a:spcAft>
              <a:buNone/>
            </a:pPr>
            <a:r>
              <a:t/>
            </a:r>
            <a:endParaRPr b="1" sz="1100" u="sng"/>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8"/>
          <p:cNvSpPr txBox="1"/>
          <p:nvPr>
            <p:ph type="title"/>
          </p:nvPr>
        </p:nvSpPr>
        <p:spPr>
          <a:xfrm>
            <a:off x="1388550" y="0"/>
            <a:ext cx="6366900" cy="1155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Ruta de A</a:t>
            </a:r>
            <a:r>
              <a:rPr lang="es-419"/>
              <a:t>nálisis</a:t>
            </a:r>
            <a:endParaRPr/>
          </a:p>
        </p:txBody>
      </p:sp>
      <p:sp>
        <p:nvSpPr>
          <p:cNvPr id="310" name="Google Shape;310;p18"/>
          <p:cNvSpPr txBox="1"/>
          <p:nvPr>
            <p:ph idx="1" type="body"/>
          </p:nvPr>
        </p:nvSpPr>
        <p:spPr>
          <a:xfrm>
            <a:off x="1388550" y="1155000"/>
            <a:ext cx="6366900" cy="29823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419" sz="1100"/>
              <a:t>Para este análisis, dividimos los datos en tres grandes temas. En cada uno de ellos usaremos gráficos clásicos para entender la tendencia nacional o temporal, y los cruzaremos con mapas de calor para visualizar cómo cambia esa misma realidad a lo largo de las distintas regiones y comunas de Chile.</a:t>
            </a:r>
            <a:endParaRPr sz="1100"/>
          </a:p>
          <a:p>
            <a:pPr indent="-298450" lvl="0" marL="457200" rtl="0" algn="just">
              <a:spcBef>
                <a:spcPts val="1200"/>
              </a:spcBef>
              <a:spcAft>
                <a:spcPts val="0"/>
              </a:spcAft>
              <a:buClr>
                <a:srgbClr val="000000"/>
              </a:buClr>
              <a:buSzPts val="1100"/>
              <a:buAutoNum type="arabicPeriod"/>
            </a:pPr>
            <a:r>
              <a:rPr b="1" lang="es-419" sz="1100"/>
              <a:t>Volumen y Distribución de Nacimientos:</a:t>
            </a:r>
            <a:r>
              <a:rPr lang="es-419" sz="1100"/>
              <a:t> Analizaremos la cantidad total de nacimientos utilizando gráficos de tendencia, acompañados de un mapa a nivel comunal para visualizar exactamente cómo se distribuyen en el territorio.</a:t>
            </a:r>
            <a:endParaRPr sz="1100"/>
          </a:p>
          <a:p>
            <a:pPr indent="-298450" lvl="0" marL="457200" rtl="0" algn="just">
              <a:spcBef>
                <a:spcPts val="0"/>
              </a:spcBef>
              <a:spcAft>
                <a:spcPts val="0"/>
              </a:spcAft>
              <a:buClr>
                <a:srgbClr val="000000"/>
              </a:buClr>
              <a:buSzPts val="1100"/>
              <a:buAutoNum type="arabicPeriod"/>
            </a:pPr>
            <a:r>
              <a:rPr b="1" lang="es-419" sz="1100"/>
              <a:t>Fecundidad y Factor Etario:</a:t>
            </a:r>
            <a:r>
              <a:rPr lang="es-419" sz="1100"/>
              <a:t> Revisaremos el gráfico del promedio de hijos por mujer, y lo complementaremos con mapas a nivel regional para entender cómo varía la edad promedio en la que madres y padres están teniendo hijos. </a:t>
            </a:r>
            <a:endParaRPr sz="1100"/>
          </a:p>
          <a:p>
            <a:pPr indent="-298450" lvl="0" marL="457200" rtl="0" algn="l">
              <a:spcBef>
                <a:spcPts val="0"/>
              </a:spcBef>
              <a:spcAft>
                <a:spcPts val="0"/>
              </a:spcAft>
              <a:buClr>
                <a:srgbClr val="000000"/>
              </a:buClr>
              <a:buSzPts val="1100"/>
              <a:buFont typeface="Arial"/>
              <a:buAutoNum type="arabicPeriod"/>
            </a:pPr>
            <a:r>
              <a:rPr b="1" lang="es-419" sz="1100"/>
              <a:t>Perfil Sociodemográfico:</a:t>
            </a:r>
            <a:r>
              <a:rPr lang="es-419" sz="1100"/>
              <a:t> </a:t>
            </a:r>
            <a:r>
              <a:rPr lang="es-419" sz="1100"/>
              <a:t>Exploramos</a:t>
            </a:r>
            <a:r>
              <a:rPr lang="es-419" sz="1100"/>
              <a:t> el nivel educacional de ambos padres mediante gráficos y mapas de calor regionales (detallando porcentajes), y </a:t>
            </a:r>
            <a:r>
              <a:rPr lang="es-419" sz="1100"/>
              <a:t>finalizamos</a:t>
            </a:r>
            <a:r>
              <a:rPr lang="es-419" sz="1100"/>
              <a:t> esta sección analizando un gráfico específico sobre el estado civil de la madre.</a:t>
            </a:r>
            <a:endParaRPr b="1"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9"/>
          <p:cNvSpPr txBox="1"/>
          <p:nvPr>
            <p:ph type="title"/>
          </p:nvPr>
        </p:nvSpPr>
        <p:spPr>
          <a:xfrm>
            <a:off x="1388550" y="76657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Nacimientos en general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20"/>
          <p:cNvPicPr preferRelativeResize="0"/>
          <p:nvPr/>
        </p:nvPicPr>
        <p:blipFill>
          <a:blip r:embed="rId3">
            <a:alphaModFix/>
          </a:blip>
          <a:stretch>
            <a:fillRect/>
          </a:stretch>
        </p:blipFill>
        <p:spPr>
          <a:xfrm>
            <a:off x="2416096" y="766196"/>
            <a:ext cx="4189350" cy="3137350"/>
          </a:xfrm>
          <a:prstGeom prst="rect">
            <a:avLst/>
          </a:prstGeom>
          <a:noFill/>
          <a:ln>
            <a:noFill/>
          </a:ln>
        </p:spPr>
      </p:pic>
      <p:sp>
        <p:nvSpPr>
          <p:cNvPr id="321" name="Google Shape;321;p20"/>
          <p:cNvSpPr txBox="1"/>
          <p:nvPr>
            <p:ph idx="1" type="body"/>
          </p:nvPr>
        </p:nvSpPr>
        <p:spPr>
          <a:xfrm>
            <a:off x="1469250" y="4065300"/>
            <a:ext cx="6205500" cy="982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s-419" sz="1100"/>
              <a:t>Comparativa de nacimientos (2020-2022):</a:t>
            </a:r>
            <a:r>
              <a:rPr lang="es-419" sz="1100"/>
              <a:t> Se observa una caída generalizada en 2021 respecto a 2020 y 2022, evidenciando el impacto de la pandemia en la planificación familiar y una marcada estacionalidad en los registros. </a:t>
            </a:r>
            <a:endParaRPr sz="1100"/>
          </a:p>
        </p:txBody>
      </p:sp>
      <p:sp>
        <p:nvSpPr>
          <p:cNvPr id="322" name="Google Shape;322;p20"/>
          <p:cNvSpPr txBox="1"/>
          <p:nvPr>
            <p:ph type="title"/>
          </p:nvPr>
        </p:nvSpPr>
        <p:spPr>
          <a:xfrm>
            <a:off x="1339775" y="0"/>
            <a:ext cx="6101400" cy="8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s-419" sz="2150"/>
              <a:t>Comparativa Mensual: Nacimientos por mes y año (2020–2022)</a:t>
            </a:r>
            <a:endParaRPr sz="21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p21"/>
          <p:cNvPicPr preferRelativeResize="0"/>
          <p:nvPr/>
        </p:nvPicPr>
        <p:blipFill rotWithShape="1">
          <a:blip r:embed="rId3">
            <a:alphaModFix/>
          </a:blip>
          <a:srcRect b="0" l="61417" r="0" t="6655"/>
          <a:stretch/>
        </p:blipFill>
        <p:spPr>
          <a:xfrm>
            <a:off x="7278025" y="718900"/>
            <a:ext cx="1727600" cy="3489900"/>
          </a:xfrm>
          <a:prstGeom prst="rect">
            <a:avLst/>
          </a:prstGeom>
          <a:noFill/>
          <a:ln>
            <a:noFill/>
          </a:ln>
        </p:spPr>
      </p:pic>
      <p:sp>
        <p:nvSpPr>
          <p:cNvPr id="328" name="Google Shape;328;p21"/>
          <p:cNvSpPr txBox="1"/>
          <p:nvPr>
            <p:ph type="title"/>
          </p:nvPr>
        </p:nvSpPr>
        <p:spPr>
          <a:xfrm>
            <a:off x="141025" y="77000"/>
            <a:ext cx="8674200" cy="570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sz="2000"/>
              <a:t>Mapa de Calor: </a:t>
            </a:r>
            <a:r>
              <a:rPr lang="es-419" sz="2000"/>
              <a:t>Tasa</a:t>
            </a:r>
            <a:r>
              <a:rPr lang="es-419" sz="2000"/>
              <a:t> de la natalidad por comuna Año 2010-2013-2016-2019-2022</a:t>
            </a:r>
            <a:endParaRPr sz="2000"/>
          </a:p>
        </p:txBody>
      </p:sp>
      <p:pic>
        <p:nvPicPr>
          <p:cNvPr id="329" name="Google Shape;329;p21"/>
          <p:cNvPicPr preferRelativeResize="0"/>
          <p:nvPr/>
        </p:nvPicPr>
        <p:blipFill rotWithShape="1">
          <a:blip r:embed="rId4">
            <a:alphaModFix/>
          </a:blip>
          <a:srcRect b="0" l="61544" r="0" t="7707"/>
          <a:stretch/>
        </p:blipFill>
        <p:spPr>
          <a:xfrm>
            <a:off x="141025" y="746575"/>
            <a:ext cx="1544976" cy="3489900"/>
          </a:xfrm>
          <a:prstGeom prst="rect">
            <a:avLst/>
          </a:prstGeom>
          <a:noFill/>
          <a:ln>
            <a:noFill/>
          </a:ln>
        </p:spPr>
      </p:pic>
      <p:pic>
        <p:nvPicPr>
          <p:cNvPr id="330" name="Google Shape;330;p21"/>
          <p:cNvPicPr preferRelativeResize="0"/>
          <p:nvPr/>
        </p:nvPicPr>
        <p:blipFill rotWithShape="1">
          <a:blip r:embed="rId5">
            <a:alphaModFix/>
          </a:blip>
          <a:srcRect b="0" l="61547" r="0" t="7055"/>
          <a:stretch/>
        </p:blipFill>
        <p:spPr>
          <a:xfrm>
            <a:off x="1824850" y="739725"/>
            <a:ext cx="1544976" cy="3489900"/>
          </a:xfrm>
          <a:prstGeom prst="rect">
            <a:avLst/>
          </a:prstGeom>
          <a:noFill/>
          <a:ln>
            <a:noFill/>
          </a:ln>
        </p:spPr>
      </p:pic>
      <p:pic>
        <p:nvPicPr>
          <p:cNvPr id="331" name="Google Shape;331;p21"/>
          <p:cNvPicPr preferRelativeResize="0"/>
          <p:nvPr/>
        </p:nvPicPr>
        <p:blipFill rotWithShape="1">
          <a:blip r:embed="rId6">
            <a:alphaModFix/>
          </a:blip>
          <a:srcRect b="0" l="59120" r="0" t="6490"/>
          <a:stretch/>
        </p:blipFill>
        <p:spPr>
          <a:xfrm>
            <a:off x="3509325" y="728825"/>
            <a:ext cx="1686475" cy="3489900"/>
          </a:xfrm>
          <a:prstGeom prst="rect">
            <a:avLst/>
          </a:prstGeom>
          <a:noFill/>
          <a:ln>
            <a:noFill/>
          </a:ln>
        </p:spPr>
      </p:pic>
      <p:pic>
        <p:nvPicPr>
          <p:cNvPr id="332" name="Google Shape;332;p21"/>
          <p:cNvPicPr preferRelativeResize="0"/>
          <p:nvPr/>
        </p:nvPicPr>
        <p:blipFill rotWithShape="1">
          <a:blip r:embed="rId7">
            <a:alphaModFix/>
          </a:blip>
          <a:srcRect b="0" l="59282" r="0" t="7604"/>
          <a:stretch/>
        </p:blipFill>
        <p:spPr>
          <a:xfrm>
            <a:off x="5332700" y="723550"/>
            <a:ext cx="1808423" cy="3489900"/>
          </a:xfrm>
          <a:prstGeom prst="rect">
            <a:avLst/>
          </a:prstGeom>
          <a:noFill/>
          <a:ln>
            <a:noFill/>
          </a:ln>
        </p:spPr>
      </p:pic>
      <p:sp>
        <p:nvSpPr>
          <p:cNvPr id="333" name="Google Shape;333;p21"/>
          <p:cNvSpPr txBox="1"/>
          <p:nvPr>
            <p:ph idx="1" type="body"/>
          </p:nvPr>
        </p:nvSpPr>
        <p:spPr>
          <a:xfrm>
            <a:off x="191725" y="4280100"/>
            <a:ext cx="8720100" cy="570600"/>
          </a:xfrm>
          <a:prstGeom prst="rect">
            <a:avLst/>
          </a:prstGeom>
        </p:spPr>
        <p:txBody>
          <a:bodyPr anchorCtr="0" anchor="t" bIns="91425" lIns="91425" spcFirstLastPara="1" rIns="91425" wrap="square" tIns="91425">
            <a:noAutofit/>
          </a:bodyPr>
          <a:lstStyle/>
          <a:p>
            <a:pPr indent="0" lvl="0" marL="0" rtl="0" algn="just">
              <a:spcBef>
                <a:spcPts val="0"/>
              </a:spcBef>
              <a:spcAft>
                <a:spcPts val="1200"/>
              </a:spcAft>
              <a:buNone/>
            </a:pPr>
            <a:r>
              <a:rPr lang="es-419" sz="1100"/>
              <a:t>Entre 2010 y 2022, los mapas revelan una caída drástica y generalizada de la natalidad a nivel nacional. La zona centro-sur experimenta un descenso profundo hacia los rangos mínimos, dejando al norte grande como la única área que logra sostener tasas moderadas.</a:t>
            </a:r>
            <a:endParaRPr b="1" sz="1100" u="sng"/>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1000"/>
                                        <p:tgtEl>
                                          <p:spTgt spid="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1000"/>
                                        <p:tgtEl>
                                          <p:spTgt spid="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1000"/>
                                        <p:tgtEl>
                                          <p:spTgt spid="3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10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2"/>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Nacimiento </a:t>
            </a:r>
            <a:r>
              <a:rPr lang="es-419"/>
              <a:t>según</a:t>
            </a:r>
            <a:r>
              <a:rPr lang="es-419"/>
              <a:t> edad de los padres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3"/>
          <p:cNvSpPr txBox="1"/>
          <p:nvPr>
            <p:ph idx="1" type="body"/>
          </p:nvPr>
        </p:nvSpPr>
        <p:spPr>
          <a:xfrm>
            <a:off x="1388550" y="3943350"/>
            <a:ext cx="6366900" cy="11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s-419" sz="1100"/>
              <a:t>Análisis de Fecundidad por Cohortes:</a:t>
            </a:r>
            <a:r>
              <a:rPr lang="es-419" sz="1100"/>
              <a:t> El gráfico muestra que solo el tramo de 45-49 años alcanza la tasa de reemplazo (2,1), mientras que las cohortes más jóvenes evidencian una reducción drástica y definitiva en el tamaño de la familia, confirmando el envejecimiento poblacional y la postergación de la maternidad. </a:t>
            </a:r>
            <a:endParaRPr sz="1100"/>
          </a:p>
        </p:txBody>
      </p:sp>
      <p:pic>
        <p:nvPicPr>
          <p:cNvPr id="344" name="Google Shape;344;p23"/>
          <p:cNvPicPr preferRelativeResize="0"/>
          <p:nvPr/>
        </p:nvPicPr>
        <p:blipFill>
          <a:blip r:embed="rId3">
            <a:alphaModFix/>
          </a:blip>
          <a:stretch>
            <a:fillRect/>
          </a:stretch>
        </p:blipFill>
        <p:spPr>
          <a:xfrm>
            <a:off x="1581388" y="915447"/>
            <a:ext cx="5981225" cy="2863250"/>
          </a:xfrm>
          <a:prstGeom prst="rect">
            <a:avLst/>
          </a:prstGeom>
          <a:noFill/>
          <a:ln>
            <a:noFill/>
          </a:ln>
        </p:spPr>
      </p:pic>
      <p:sp>
        <p:nvSpPr>
          <p:cNvPr id="345" name="Google Shape;345;p23"/>
          <p:cNvSpPr txBox="1"/>
          <p:nvPr>
            <p:ph type="title"/>
          </p:nvPr>
        </p:nvSpPr>
        <p:spPr>
          <a:xfrm>
            <a:off x="1388550" y="134775"/>
            <a:ext cx="6582900" cy="1044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Nacimiento según edad de los padres</a:t>
            </a:r>
            <a:endParaRPr/>
          </a:p>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24"/>
          <p:cNvPicPr preferRelativeResize="0"/>
          <p:nvPr/>
        </p:nvPicPr>
        <p:blipFill rotWithShape="1">
          <a:blip r:embed="rId3">
            <a:alphaModFix/>
          </a:blip>
          <a:srcRect b="0" l="71113" r="0" t="12709"/>
          <a:stretch/>
        </p:blipFill>
        <p:spPr>
          <a:xfrm>
            <a:off x="7214650" y="575750"/>
            <a:ext cx="1739225" cy="3526476"/>
          </a:xfrm>
          <a:prstGeom prst="rect">
            <a:avLst/>
          </a:prstGeom>
          <a:noFill/>
          <a:ln>
            <a:noFill/>
          </a:ln>
        </p:spPr>
      </p:pic>
      <p:pic>
        <p:nvPicPr>
          <p:cNvPr id="351" name="Google Shape;351;p24"/>
          <p:cNvPicPr preferRelativeResize="0"/>
          <p:nvPr/>
        </p:nvPicPr>
        <p:blipFill rotWithShape="1">
          <a:blip r:embed="rId4">
            <a:alphaModFix/>
          </a:blip>
          <a:srcRect b="0" l="74447" r="0" t="17648"/>
          <a:stretch/>
        </p:blipFill>
        <p:spPr>
          <a:xfrm>
            <a:off x="5458525" y="575750"/>
            <a:ext cx="1739203" cy="3526475"/>
          </a:xfrm>
          <a:prstGeom prst="rect">
            <a:avLst/>
          </a:prstGeom>
          <a:noFill/>
          <a:ln>
            <a:noFill/>
          </a:ln>
        </p:spPr>
      </p:pic>
      <p:sp>
        <p:nvSpPr>
          <p:cNvPr id="352" name="Google Shape;352;p24"/>
          <p:cNvSpPr txBox="1"/>
          <p:nvPr>
            <p:ph type="title"/>
          </p:nvPr>
        </p:nvSpPr>
        <p:spPr>
          <a:xfrm>
            <a:off x="898650" y="40200"/>
            <a:ext cx="7346700" cy="49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sz="2000"/>
              <a:t>Mapa de Calor: Edad promedio de la Madre por regiones </a:t>
            </a:r>
            <a:endParaRPr sz="2000"/>
          </a:p>
        </p:txBody>
      </p:sp>
      <p:pic>
        <p:nvPicPr>
          <p:cNvPr id="353" name="Google Shape;353;p24"/>
          <p:cNvPicPr preferRelativeResize="0"/>
          <p:nvPr/>
        </p:nvPicPr>
        <p:blipFill rotWithShape="1">
          <a:blip r:embed="rId4">
            <a:alphaModFix/>
          </a:blip>
          <a:srcRect b="0" l="0" r="74447" t="17648"/>
          <a:stretch/>
        </p:blipFill>
        <p:spPr>
          <a:xfrm>
            <a:off x="132150" y="575750"/>
            <a:ext cx="1739223" cy="3526475"/>
          </a:xfrm>
          <a:prstGeom prst="rect">
            <a:avLst/>
          </a:prstGeom>
          <a:noFill/>
          <a:ln>
            <a:noFill/>
          </a:ln>
        </p:spPr>
      </p:pic>
      <p:pic>
        <p:nvPicPr>
          <p:cNvPr id="354" name="Google Shape;354;p24"/>
          <p:cNvPicPr preferRelativeResize="0"/>
          <p:nvPr/>
        </p:nvPicPr>
        <p:blipFill rotWithShape="1">
          <a:blip r:embed="rId4">
            <a:alphaModFix/>
          </a:blip>
          <a:srcRect b="0" l="24671" r="48924" t="17648"/>
          <a:stretch/>
        </p:blipFill>
        <p:spPr>
          <a:xfrm>
            <a:off x="1888300" y="575750"/>
            <a:ext cx="1797176" cy="3526475"/>
          </a:xfrm>
          <a:prstGeom prst="rect">
            <a:avLst/>
          </a:prstGeom>
          <a:noFill/>
          <a:ln>
            <a:noFill/>
          </a:ln>
        </p:spPr>
      </p:pic>
      <p:pic>
        <p:nvPicPr>
          <p:cNvPr id="355" name="Google Shape;355;p24"/>
          <p:cNvPicPr preferRelativeResize="0"/>
          <p:nvPr/>
        </p:nvPicPr>
        <p:blipFill rotWithShape="1">
          <a:blip r:embed="rId4">
            <a:alphaModFix/>
          </a:blip>
          <a:srcRect b="0" l="50549" r="23897" t="17648"/>
          <a:stretch/>
        </p:blipFill>
        <p:spPr>
          <a:xfrm>
            <a:off x="3702388" y="575750"/>
            <a:ext cx="1739223" cy="3526475"/>
          </a:xfrm>
          <a:prstGeom prst="rect">
            <a:avLst/>
          </a:prstGeom>
          <a:noFill/>
          <a:ln>
            <a:noFill/>
          </a:ln>
        </p:spPr>
      </p:pic>
      <p:sp>
        <p:nvSpPr>
          <p:cNvPr id="356" name="Google Shape;356;p24"/>
          <p:cNvSpPr txBox="1"/>
          <p:nvPr>
            <p:ph idx="1" type="body"/>
          </p:nvPr>
        </p:nvSpPr>
        <p:spPr>
          <a:xfrm>
            <a:off x="173300" y="4174300"/>
            <a:ext cx="8720100" cy="881700"/>
          </a:xfrm>
          <a:prstGeom prst="rect">
            <a:avLst/>
          </a:prstGeom>
        </p:spPr>
        <p:txBody>
          <a:bodyPr anchorCtr="0" anchor="t" bIns="91425" lIns="91425" spcFirstLastPara="1" rIns="91425" wrap="square" tIns="91425">
            <a:noAutofit/>
          </a:bodyPr>
          <a:lstStyle/>
          <a:p>
            <a:pPr indent="0" lvl="0" marL="0" rtl="0" algn="just">
              <a:spcBef>
                <a:spcPts val="0"/>
              </a:spcBef>
              <a:spcAft>
                <a:spcPts val="1200"/>
              </a:spcAft>
              <a:buNone/>
            </a:pPr>
            <a:r>
              <a:rPr lang="es-419" sz="1100"/>
              <a:t>Entre 2010 y 2022, los mapas evidencian un aumento progresivo y generalizado en la edad promedio de las madres al momento del parto. El territorio transita desde tonos claros en 2010, indicando edades en torno a los 26 años, </a:t>
            </a:r>
            <a:r>
              <a:rPr lang="es-419" sz="1100"/>
              <a:t>hacía</a:t>
            </a:r>
            <a:r>
              <a:rPr lang="es-419" sz="1100"/>
              <a:t> colores marcadamente más oscuros para 2022, acercándose a los 30 años, destacando un desplazamiento cronológico más evidente en las regiones de la zona centro-sur.</a:t>
            </a:r>
            <a:endParaRPr b="1" sz="1100" u="sng"/>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1000"/>
                                        <p:tgtEl>
                                          <p:spTgt spid="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0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25"/>
          <p:cNvPicPr preferRelativeResize="0"/>
          <p:nvPr/>
        </p:nvPicPr>
        <p:blipFill rotWithShape="1">
          <a:blip r:embed="rId3">
            <a:alphaModFix/>
          </a:blip>
          <a:srcRect b="0" l="71368" r="0" t="0"/>
          <a:stretch/>
        </p:blipFill>
        <p:spPr>
          <a:xfrm>
            <a:off x="7324400" y="795175"/>
            <a:ext cx="1750400" cy="3576500"/>
          </a:xfrm>
          <a:prstGeom prst="rect">
            <a:avLst/>
          </a:prstGeom>
          <a:noFill/>
          <a:ln>
            <a:noFill/>
          </a:ln>
        </p:spPr>
      </p:pic>
      <p:pic>
        <p:nvPicPr>
          <p:cNvPr id="362" name="Google Shape;362;p25"/>
          <p:cNvPicPr preferRelativeResize="0"/>
          <p:nvPr/>
        </p:nvPicPr>
        <p:blipFill rotWithShape="1">
          <a:blip r:embed="rId4">
            <a:alphaModFix/>
          </a:blip>
          <a:srcRect b="0" l="0" r="73139" t="16923"/>
          <a:stretch/>
        </p:blipFill>
        <p:spPr>
          <a:xfrm>
            <a:off x="49825" y="795175"/>
            <a:ext cx="1840399" cy="3576499"/>
          </a:xfrm>
          <a:prstGeom prst="rect">
            <a:avLst/>
          </a:prstGeom>
          <a:noFill/>
          <a:ln>
            <a:noFill/>
          </a:ln>
        </p:spPr>
      </p:pic>
      <p:pic>
        <p:nvPicPr>
          <p:cNvPr id="363" name="Google Shape;363;p25"/>
          <p:cNvPicPr preferRelativeResize="0"/>
          <p:nvPr/>
        </p:nvPicPr>
        <p:blipFill rotWithShape="1">
          <a:blip r:embed="rId4">
            <a:alphaModFix/>
          </a:blip>
          <a:srcRect b="0" l="24715" r="47937" t="17695"/>
          <a:stretch/>
        </p:blipFill>
        <p:spPr>
          <a:xfrm>
            <a:off x="1947325" y="795175"/>
            <a:ext cx="1840399" cy="3576499"/>
          </a:xfrm>
          <a:prstGeom prst="rect">
            <a:avLst/>
          </a:prstGeom>
          <a:noFill/>
          <a:ln>
            <a:noFill/>
          </a:ln>
        </p:spPr>
      </p:pic>
      <p:pic>
        <p:nvPicPr>
          <p:cNvPr id="364" name="Google Shape;364;p25"/>
          <p:cNvPicPr preferRelativeResize="0"/>
          <p:nvPr/>
        </p:nvPicPr>
        <p:blipFill rotWithShape="1">
          <a:blip r:embed="rId4">
            <a:alphaModFix/>
          </a:blip>
          <a:srcRect b="0" l="50924" r="23025" t="16923"/>
          <a:stretch/>
        </p:blipFill>
        <p:spPr>
          <a:xfrm>
            <a:off x="3846975" y="795175"/>
            <a:ext cx="1750400" cy="3576499"/>
          </a:xfrm>
          <a:prstGeom prst="rect">
            <a:avLst/>
          </a:prstGeom>
          <a:noFill/>
          <a:ln>
            <a:noFill/>
          </a:ln>
        </p:spPr>
      </p:pic>
      <p:pic>
        <p:nvPicPr>
          <p:cNvPr id="365" name="Google Shape;365;p25"/>
          <p:cNvPicPr preferRelativeResize="0"/>
          <p:nvPr/>
        </p:nvPicPr>
        <p:blipFill rotWithShape="1">
          <a:blip r:embed="rId4">
            <a:alphaModFix/>
          </a:blip>
          <a:srcRect b="0" l="76842" r="163" t="16923"/>
          <a:stretch/>
        </p:blipFill>
        <p:spPr>
          <a:xfrm>
            <a:off x="5656625" y="795175"/>
            <a:ext cx="1598351" cy="3576499"/>
          </a:xfrm>
          <a:prstGeom prst="rect">
            <a:avLst/>
          </a:prstGeom>
          <a:noFill/>
          <a:ln>
            <a:noFill/>
          </a:ln>
        </p:spPr>
      </p:pic>
      <p:sp>
        <p:nvSpPr>
          <p:cNvPr id="366" name="Google Shape;366;p25"/>
          <p:cNvSpPr txBox="1"/>
          <p:nvPr>
            <p:ph type="title"/>
          </p:nvPr>
        </p:nvSpPr>
        <p:spPr>
          <a:xfrm>
            <a:off x="992250" y="75275"/>
            <a:ext cx="7159500" cy="49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2000"/>
              <a:t>Mapa de Calor: Edad promedio del Padre por regiones </a:t>
            </a:r>
            <a:endParaRPr sz="2000"/>
          </a:p>
        </p:txBody>
      </p:sp>
      <p:sp>
        <p:nvSpPr>
          <p:cNvPr id="367" name="Google Shape;367;p25"/>
          <p:cNvSpPr txBox="1"/>
          <p:nvPr>
            <p:ph idx="1" type="body"/>
          </p:nvPr>
        </p:nvSpPr>
        <p:spPr>
          <a:xfrm>
            <a:off x="173300" y="4427575"/>
            <a:ext cx="8720100" cy="675300"/>
          </a:xfrm>
          <a:prstGeom prst="rect">
            <a:avLst/>
          </a:prstGeom>
        </p:spPr>
        <p:txBody>
          <a:bodyPr anchorCtr="0" anchor="t" bIns="91425" lIns="91425" spcFirstLastPara="1" rIns="91425" wrap="square" tIns="91425">
            <a:noAutofit/>
          </a:bodyPr>
          <a:lstStyle/>
          <a:p>
            <a:pPr indent="0" lvl="0" marL="0" rtl="0" algn="just">
              <a:spcBef>
                <a:spcPts val="0"/>
              </a:spcBef>
              <a:spcAft>
                <a:spcPts val="1200"/>
              </a:spcAft>
              <a:buNone/>
            </a:pPr>
            <a:r>
              <a:rPr lang="es-419" sz="1100"/>
              <a:t>Entre 2010 y 2022, la secuencia cartográfica muestra un incremento constante y transversal en la edad promedio de los padres al momento del nacimiento. El territorio evoluciona desde tonos medios en 2010, que reflejan promedios cercanos a los 29 y 30 años, hacia una predominancia de azules oscuros para 2022, indicando un desplazamiento de la paternidad hacia rangos que superan los 32 años.</a:t>
            </a:r>
            <a:endParaRPr b="1" sz="1100" u="sng"/>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6"/>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Nacimientos </a:t>
            </a:r>
            <a:r>
              <a:rPr lang="es-419"/>
              <a:t>según</a:t>
            </a:r>
            <a:r>
              <a:rPr lang="es-419"/>
              <a:t> el nivel educacional de los padres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7"/>
          <p:cNvSpPr txBox="1"/>
          <p:nvPr>
            <p:ph idx="1" type="body"/>
          </p:nvPr>
        </p:nvSpPr>
        <p:spPr>
          <a:xfrm>
            <a:off x="1388550" y="3844525"/>
            <a:ext cx="6366900" cy="8757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SzPts val="1018"/>
              <a:buNone/>
            </a:pPr>
            <a:r>
              <a:rPr lang="es-419" sz="1103"/>
              <a:t>Las Figuras demuestran que a mayor escolaridad, más se retrasa la reproducción en ambos progenitores: el nivel Medio concentra los nacimientos entre los 25-29 años, mientras que el Superior los desplaza hacia los 30-34 años. Esto confirma que la postergación de la maternidad y paternidad es un fenómeno transversal impulsado directamente por el perfil socioeducativo. </a:t>
            </a:r>
            <a:endParaRPr sz="1103"/>
          </a:p>
        </p:txBody>
      </p:sp>
      <p:pic>
        <p:nvPicPr>
          <p:cNvPr id="378" name="Google Shape;378;p27"/>
          <p:cNvPicPr preferRelativeResize="0"/>
          <p:nvPr/>
        </p:nvPicPr>
        <p:blipFill rotWithShape="1">
          <a:blip r:embed="rId3">
            <a:alphaModFix/>
          </a:blip>
          <a:srcRect b="0" l="0" r="14537" t="0"/>
          <a:stretch/>
        </p:blipFill>
        <p:spPr>
          <a:xfrm>
            <a:off x="4919625" y="1074600"/>
            <a:ext cx="4087501" cy="2715999"/>
          </a:xfrm>
          <a:prstGeom prst="rect">
            <a:avLst/>
          </a:prstGeom>
          <a:noFill/>
          <a:ln>
            <a:noFill/>
          </a:ln>
        </p:spPr>
      </p:pic>
      <p:pic>
        <p:nvPicPr>
          <p:cNvPr id="379" name="Google Shape;379;p27" title="grafico_nacimientos_padre.png"/>
          <p:cNvPicPr preferRelativeResize="0"/>
          <p:nvPr/>
        </p:nvPicPr>
        <p:blipFill>
          <a:blip r:embed="rId4">
            <a:alphaModFix/>
          </a:blip>
          <a:stretch>
            <a:fillRect/>
          </a:stretch>
        </p:blipFill>
        <p:spPr>
          <a:xfrm>
            <a:off x="136875" y="1074600"/>
            <a:ext cx="4782761" cy="2716000"/>
          </a:xfrm>
          <a:prstGeom prst="rect">
            <a:avLst/>
          </a:prstGeom>
          <a:noFill/>
          <a:ln>
            <a:noFill/>
          </a:ln>
        </p:spPr>
      </p:pic>
      <p:sp>
        <p:nvSpPr>
          <p:cNvPr id="380" name="Google Shape;380;p27"/>
          <p:cNvSpPr txBox="1"/>
          <p:nvPr>
            <p:ph type="title"/>
          </p:nvPr>
        </p:nvSpPr>
        <p:spPr>
          <a:xfrm>
            <a:off x="180775" y="145925"/>
            <a:ext cx="8527500" cy="764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Dimensión</a:t>
            </a:r>
            <a:r>
              <a:rPr lang="es-419"/>
              <a:t> Socioeducativa: Nacimientos </a:t>
            </a:r>
            <a:r>
              <a:rPr lang="es-419"/>
              <a:t>según</a:t>
            </a:r>
            <a:r>
              <a:rPr lang="es-419"/>
              <a:t> Edad y Nivel Educacional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28"/>
          <p:cNvPicPr preferRelativeResize="0"/>
          <p:nvPr/>
        </p:nvPicPr>
        <p:blipFill rotWithShape="1">
          <a:blip r:embed="rId3">
            <a:alphaModFix/>
          </a:blip>
          <a:srcRect b="11099" l="77221" r="1079" t="17339"/>
          <a:stretch/>
        </p:blipFill>
        <p:spPr>
          <a:xfrm>
            <a:off x="5459162" y="496500"/>
            <a:ext cx="1755638" cy="3569376"/>
          </a:xfrm>
          <a:prstGeom prst="rect">
            <a:avLst/>
          </a:prstGeom>
          <a:noFill/>
          <a:ln>
            <a:noFill/>
          </a:ln>
        </p:spPr>
      </p:pic>
      <p:pic>
        <p:nvPicPr>
          <p:cNvPr id="386" name="Google Shape;386;p28"/>
          <p:cNvPicPr preferRelativeResize="0"/>
          <p:nvPr/>
        </p:nvPicPr>
        <p:blipFill rotWithShape="1">
          <a:blip r:embed="rId4">
            <a:alphaModFix/>
          </a:blip>
          <a:srcRect b="11015" l="71609" r="4844" t="4511"/>
          <a:stretch/>
        </p:blipFill>
        <p:spPr>
          <a:xfrm>
            <a:off x="7214800" y="496513"/>
            <a:ext cx="1676877" cy="3569376"/>
          </a:xfrm>
          <a:prstGeom prst="rect">
            <a:avLst/>
          </a:prstGeom>
          <a:noFill/>
          <a:ln>
            <a:noFill/>
          </a:ln>
        </p:spPr>
      </p:pic>
      <p:sp>
        <p:nvSpPr>
          <p:cNvPr id="387" name="Google Shape;387;p28"/>
          <p:cNvSpPr txBox="1"/>
          <p:nvPr>
            <p:ph type="title"/>
          </p:nvPr>
        </p:nvSpPr>
        <p:spPr>
          <a:xfrm>
            <a:off x="1152900" y="0"/>
            <a:ext cx="6838200" cy="49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sz="2000"/>
              <a:t>Mapa de Calor: Nivel educacional superior de la madre</a:t>
            </a:r>
            <a:endParaRPr sz="2000"/>
          </a:p>
        </p:txBody>
      </p:sp>
      <p:pic>
        <p:nvPicPr>
          <p:cNvPr id="388" name="Google Shape;388;p28"/>
          <p:cNvPicPr preferRelativeResize="0"/>
          <p:nvPr/>
        </p:nvPicPr>
        <p:blipFill rotWithShape="1">
          <a:blip r:embed="rId3">
            <a:alphaModFix/>
          </a:blip>
          <a:srcRect b="11099" l="1905" r="76393" t="17339"/>
          <a:stretch/>
        </p:blipFill>
        <p:spPr>
          <a:xfrm>
            <a:off x="270975" y="496500"/>
            <a:ext cx="1755648" cy="3569400"/>
          </a:xfrm>
          <a:prstGeom prst="rect">
            <a:avLst/>
          </a:prstGeom>
          <a:noFill/>
          <a:ln>
            <a:noFill/>
          </a:ln>
        </p:spPr>
      </p:pic>
      <p:pic>
        <p:nvPicPr>
          <p:cNvPr id="389" name="Google Shape;389;p28"/>
          <p:cNvPicPr preferRelativeResize="0"/>
          <p:nvPr/>
        </p:nvPicPr>
        <p:blipFill rotWithShape="1">
          <a:blip r:embed="rId3">
            <a:alphaModFix/>
          </a:blip>
          <a:srcRect b="11099" l="27234" r="51065" t="17339"/>
          <a:stretch/>
        </p:blipFill>
        <p:spPr>
          <a:xfrm>
            <a:off x="2026625" y="496500"/>
            <a:ext cx="1755648" cy="3569400"/>
          </a:xfrm>
          <a:prstGeom prst="rect">
            <a:avLst/>
          </a:prstGeom>
          <a:noFill/>
          <a:ln>
            <a:noFill/>
          </a:ln>
        </p:spPr>
      </p:pic>
      <p:pic>
        <p:nvPicPr>
          <p:cNvPr id="390" name="Google Shape;390;p28"/>
          <p:cNvPicPr preferRelativeResize="0"/>
          <p:nvPr/>
        </p:nvPicPr>
        <p:blipFill rotWithShape="1">
          <a:blip r:embed="rId3">
            <a:alphaModFix/>
          </a:blip>
          <a:srcRect b="11210" l="51987" r="26274" t="17341"/>
          <a:stretch/>
        </p:blipFill>
        <p:spPr>
          <a:xfrm>
            <a:off x="3782275" y="493775"/>
            <a:ext cx="1676877" cy="3574856"/>
          </a:xfrm>
          <a:prstGeom prst="rect">
            <a:avLst/>
          </a:prstGeom>
          <a:noFill/>
          <a:ln>
            <a:noFill/>
          </a:ln>
        </p:spPr>
      </p:pic>
      <p:sp>
        <p:nvSpPr>
          <p:cNvPr id="391" name="Google Shape;391;p28"/>
          <p:cNvSpPr txBox="1"/>
          <p:nvPr>
            <p:ph idx="1" type="body"/>
          </p:nvPr>
        </p:nvSpPr>
        <p:spPr>
          <a:xfrm>
            <a:off x="171575" y="4349650"/>
            <a:ext cx="8720100" cy="7224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1200"/>
              </a:spcAft>
              <a:buNone/>
            </a:pPr>
            <a:r>
              <a:rPr lang="es-419" sz="1100"/>
              <a:t>Entre 2010 y 2022, la secuencia cartográfica revela un aumento drástico y sostenido en la proporción de madres con nivel de educación superior. El territorio transita desde una predominancia absoluta de tonos rojos en 2010, hacia una consolidación generalizada de tonos verdes oscuros para 2022, alcanzando y superando la barrera del 50%. </a:t>
            </a:r>
            <a:endParaRPr b="1" sz="1100" u="sng"/>
          </a:p>
        </p:txBody>
      </p:sp>
      <p:pic>
        <p:nvPicPr>
          <p:cNvPr id="392" name="Google Shape;392;p28"/>
          <p:cNvPicPr preferRelativeResize="0"/>
          <p:nvPr/>
        </p:nvPicPr>
        <p:blipFill rotWithShape="1">
          <a:blip r:embed="rId4">
            <a:alphaModFix/>
          </a:blip>
          <a:srcRect b="3731" l="71608" r="0" t="89076"/>
          <a:stretch/>
        </p:blipFill>
        <p:spPr>
          <a:xfrm>
            <a:off x="3637263" y="4068613"/>
            <a:ext cx="1869473" cy="2810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1000"/>
                                        <p:tgtEl>
                                          <p:spTgt spid="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29"/>
          <p:cNvPicPr preferRelativeResize="0"/>
          <p:nvPr/>
        </p:nvPicPr>
        <p:blipFill rotWithShape="1">
          <a:blip r:embed="rId3">
            <a:alphaModFix/>
          </a:blip>
          <a:srcRect b="11294" l="78421" r="1084" t="16352"/>
          <a:stretch/>
        </p:blipFill>
        <p:spPr>
          <a:xfrm>
            <a:off x="5427713" y="448700"/>
            <a:ext cx="1567375" cy="3578149"/>
          </a:xfrm>
          <a:prstGeom prst="rect">
            <a:avLst/>
          </a:prstGeom>
          <a:noFill/>
          <a:ln>
            <a:noFill/>
          </a:ln>
        </p:spPr>
      </p:pic>
      <p:pic>
        <p:nvPicPr>
          <p:cNvPr id="398" name="Google Shape;398;p29"/>
          <p:cNvPicPr preferRelativeResize="0"/>
          <p:nvPr/>
        </p:nvPicPr>
        <p:blipFill rotWithShape="1">
          <a:blip r:embed="rId4">
            <a:alphaModFix/>
          </a:blip>
          <a:srcRect b="11190" l="76676" r="4782" t="0"/>
          <a:stretch/>
        </p:blipFill>
        <p:spPr>
          <a:xfrm>
            <a:off x="6995100" y="448700"/>
            <a:ext cx="1233655" cy="3578150"/>
          </a:xfrm>
          <a:prstGeom prst="rect">
            <a:avLst/>
          </a:prstGeom>
          <a:noFill/>
          <a:ln>
            <a:noFill/>
          </a:ln>
        </p:spPr>
      </p:pic>
      <p:pic>
        <p:nvPicPr>
          <p:cNvPr id="399" name="Google Shape;399;p29"/>
          <p:cNvPicPr preferRelativeResize="0"/>
          <p:nvPr/>
        </p:nvPicPr>
        <p:blipFill rotWithShape="1">
          <a:blip r:embed="rId3">
            <a:alphaModFix/>
          </a:blip>
          <a:srcRect b="11369" l="3655" r="76040" t="16356"/>
          <a:stretch/>
        </p:blipFill>
        <p:spPr>
          <a:xfrm>
            <a:off x="725600" y="446800"/>
            <a:ext cx="1567375" cy="3581948"/>
          </a:xfrm>
          <a:prstGeom prst="rect">
            <a:avLst/>
          </a:prstGeom>
          <a:noFill/>
          <a:ln>
            <a:noFill/>
          </a:ln>
        </p:spPr>
      </p:pic>
      <p:pic>
        <p:nvPicPr>
          <p:cNvPr id="400" name="Google Shape;400;p29"/>
          <p:cNvPicPr preferRelativeResize="0"/>
          <p:nvPr/>
        </p:nvPicPr>
        <p:blipFill rotWithShape="1">
          <a:blip r:embed="rId3">
            <a:alphaModFix/>
          </a:blip>
          <a:srcRect b="11369" l="28578" r="51117" t="16356"/>
          <a:stretch/>
        </p:blipFill>
        <p:spPr>
          <a:xfrm>
            <a:off x="2292975" y="446800"/>
            <a:ext cx="1567375" cy="3581948"/>
          </a:xfrm>
          <a:prstGeom prst="rect">
            <a:avLst/>
          </a:prstGeom>
          <a:noFill/>
          <a:ln>
            <a:noFill/>
          </a:ln>
        </p:spPr>
      </p:pic>
      <p:pic>
        <p:nvPicPr>
          <p:cNvPr id="401" name="Google Shape;401;p29"/>
          <p:cNvPicPr preferRelativeResize="0"/>
          <p:nvPr/>
        </p:nvPicPr>
        <p:blipFill rotWithShape="1">
          <a:blip r:embed="rId3">
            <a:alphaModFix/>
          </a:blip>
          <a:srcRect b="11294" l="53750" r="25756" t="16352"/>
          <a:stretch/>
        </p:blipFill>
        <p:spPr>
          <a:xfrm>
            <a:off x="3860350" y="448675"/>
            <a:ext cx="1567375" cy="3578190"/>
          </a:xfrm>
          <a:prstGeom prst="rect">
            <a:avLst/>
          </a:prstGeom>
          <a:noFill/>
          <a:ln>
            <a:noFill/>
          </a:ln>
        </p:spPr>
      </p:pic>
      <p:sp>
        <p:nvSpPr>
          <p:cNvPr id="402" name="Google Shape;402;p29"/>
          <p:cNvSpPr txBox="1"/>
          <p:nvPr>
            <p:ph type="title"/>
          </p:nvPr>
        </p:nvSpPr>
        <p:spPr>
          <a:xfrm>
            <a:off x="639600" y="42300"/>
            <a:ext cx="7864800" cy="47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sz="2000"/>
              <a:t>Mapa de Calor: Nivel educacional superior del Padre</a:t>
            </a:r>
            <a:endParaRPr sz="2000"/>
          </a:p>
        </p:txBody>
      </p:sp>
      <p:sp>
        <p:nvSpPr>
          <p:cNvPr id="403" name="Google Shape;403;p29"/>
          <p:cNvSpPr txBox="1"/>
          <p:nvPr>
            <p:ph idx="1" type="body"/>
          </p:nvPr>
        </p:nvSpPr>
        <p:spPr>
          <a:xfrm>
            <a:off x="169925" y="4309775"/>
            <a:ext cx="8720100" cy="733200"/>
          </a:xfrm>
          <a:prstGeom prst="rect">
            <a:avLst/>
          </a:prstGeom>
        </p:spPr>
        <p:txBody>
          <a:bodyPr anchorCtr="0" anchor="t" bIns="91425" lIns="91425" spcFirstLastPara="1" rIns="91425" wrap="square" tIns="91425">
            <a:noAutofit/>
          </a:bodyPr>
          <a:lstStyle/>
          <a:p>
            <a:pPr indent="0" lvl="0" marL="0" rtl="0" algn="just">
              <a:spcBef>
                <a:spcPts val="0"/>
              </a:spcBef>
              <a:spcAft>
                <a:spcPts val="1200"/>
              </a:spcAft>
              <a:buNone/>
            </a:pPr>
            <a:r>
              <a:rPr lang="es-419" sz="1100"/>
              <a:t>Entre 2010 y 2022, la secuencia cartográfica evidencia un incremento gradual y sostenido en la proporción de padres con nivel de educación superior. El territorio transita desde una predominancia de tonos rojos oscuros en 2010, que indican porcentajes cercanos al 25%, hacia una mayor presencia de tonos anaranjados, amarillos y verdes para 2022. </a:t>
            </a:r>
            <a:endParaRPr b="1" sz="1100" u="sng"/>
          </a:p>
        </p:txBody>
      </p:sp>
      <p:pic>
        <p:nvPicPr>
          <p:cNvPr id="404" name="Google Shape;404;p29"/>
          <p:cNvPicPr preferRelativeResize="0"/>
          <p:nvPr/>
        </p:nvPicPr>
        <p:blipFill rotWithShape="1">
          <a:blip r:embed="rId5">
            <a:alphaModFix/>
          </a:blip>
          <a:srcRect b="3731" l="71608" r="0" t="89076"/>
          <a:stretch/>
        </p:blipFill>
        <p:spPr>
          <a:xfrm>
            <a:off x="3637263" y="4028738"/>
            <a:ext cx="1869473" cy="2810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000"/>
                                        <p:tgtEl>
                                          <p:spTgt spid="4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1000"/>
                                        <p:tgtEl>
                                          <p:spTgt spid="3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0"/>
          <p:cNvSpPr txBox="1"/>
          <p:nvPr>
            <p:ph type="title"/>
          </p:nvPr>
        </p:nvSpPr>
        <p:spPr>
          <a:xfrm>
            <a:off x="1388550" y="1640100"/>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Nacimientos </a:t>
            </a:r>
            <a:r>
              <a:rPr lang="es-419"/>
              <a:t>según</a:t>
            </a:r>
            <a:r>
              <a:rPr lang="es-419"/>
              <a:t> el estado civil de los padres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1"/>
          <p:cNvSpPr txBox="1"/>
          <p:nvPr>
            <p:ph idx="1" type="body"/>
          </p:nvPr>
        </p:nvSpPr>
        <p:spPr>
          <a:xfrm>
            <a:off x="1548175" y="4275175"/>
            <a:ext cx="5856900" cy="4983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None/>
            </a:pPr>
            <a:r>
              <a:rPr lang="es-419" sz="3858"/>
              <a:t>La Figura </a:t>
            </a:r>
            <a:r>
              <a:rPr lang="es-419" sz="3858"/>
              <a:t>ilustra</a:t>
            </a:r>
            <a:r>
              <a:rPr lang="es-419" sz="3858"/>
              <a:t> la caída generalizada de nacimientos (2010-2022) y confirma que la procreación en Chile ocurre mayoritariamente fuera del matrimonio. </a:t>
            </a:r>
            <a:endParaRPr sz="3858"/>
          </a:p>
          <a:p>
            <a:pPr indent="0" lvl="0" marL="0" rtl="0" algn="l">
              <a:spcBef>
                <a:spcPts val="1200"/>
              </a:spcBef>
              <a:spcAft>
                <a:spcPts val="1200"/>
              </a:spcAft>
              <a:buNone/>
            </a:pPr>
            <a:r>
              <a:t/>
            </a:r>
            <a:endParaRPr/>
          </a:p>
        </p:txBody>
      </p:sp>
      <p:pic>
        <p:nvPicPr>
          <p:cNvPr id="415" name="Google Shape;415;p31"/>
          <p:cNvPicPr preferRelativeResize="0"/>
          <p:nvPr/>
        </p:nvPicPr>
        <p:blipFill rotWithShape="1">
          <a:blip r:embed="rId3">
            <a:alphaModFix/>
          </a:blip>
          <a:srcRect b="2162" l="0" r="1458" t="0"/>
          <a:stretch/>
        </p:blipFill>
        <p:spPr>
          <a:xfrm>
            <a:off x="1665350" y="1025600"/>
            <a:ext cx="5570951" cy="3092300"/>
          </a:xfrm>
          <a:prstGeom prst="rect">
            <a:avLst/>
          </a:prstGeom>
          <a:noFill/>
          <a:ln>
            <a:noFill/>
          </a:ln>
        </p:spPr>
      </p:pic>
      <p:sp>
        <p:nvSpPr>
          <p:cNvPr id="416" name="Google Shape;416;p31"/>
          <p:cNvSpPr txBox="1"/>
          <p:nvPr>
            <p:ph type="title"/>
          </p:nvPr>
        </p:nvSpPr>
        <p:spPr>
          <a:xfrm>
            <a:off x="851775" y="143000"/>
            <a:ext cx="7573200" cy="88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sz="2000"/>
              <a:t>Dimensión</a:t>
            </a:r>
            <a:r>
              <a:rPr lang="es-419" sz="2000"/>
              <a:t> Estado Civil: Nacimientos vivos </a:t>
            </a:r>
            <a:r>
              <a:rPr lang="es-419" sz="2000"/>
              <a:t>según</a:t>
            </a:r>
            <a:r>
              <a:rPr lang="es-419" sz="2000"/>
              <a:t> estado civil de la madre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2"/>
          <p:cNvSpPr txBox="1"/>
          <p:nvPr>
            <p:ph type="title"/>
          </p:nvPr>
        </p:nvSpPr>
        <p:spPr>
          <a:xfrm>
            <a:off x="1388550" y="1640100"/>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Scrapper python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3"/>
          <p:cNvSpPr txBox="1"/>
          <p:nvPr>
            <p:ph idx="1" type="body"/>
          </p:nvPr>
        </p:nvSpPr>
        <p:spPr>
          <a:xfrm>
            <a:off x="1643550" y="3902675"/>
            <a:ext cx="5856900" cy="4983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None/>
            </a:pPr>
            <a:r>
              <a:rPr lang="es-419" sz="3858"/>
              <a:t>Objetivo:extraer precios de productos para construir una canasta básica y calcular su precio </a:t>
            </a:r>
            <a:r>
              <a:rPr lang="es-419" sz="3858"/>
              <a:t>histórico mediante el promedio de valores por producto a lo largo del tiempo.</a:t>
            </a:r>
            <a:endParaRPr sz="3858"/>
          </a:p>
          <a:p>
            <a:pPr indent="0" lvl="0" marL="0" rtl="0" algn="l">
              <a:spcBef>
                <a:spcPts val="1200"/>
              </a:spcBef>
              <a:spcAft>
                <a:spcPts val="1200"/>
              </a:spcAft>
              <a:buNone/>
            </a:pPr>
            <a:r>
              <a:t/>
            </a:r>
            <a:endParaRPr/>
          </a:p>
        </p:txBody>
      </p:sp>
      <p:sp>
        <p:nvSpPr>
          <p:cNvPr id="427" name="Google Shape;427;p33"/>
          <p:cNvSpPr txBox="1"/>
          <p:nvPr>
            <p:ph type="title"/>
          </p:nvPr>
        </p:nvSpPr>
        <p:spPr>
          <a:xfrm>
            <a:off x="477025" y="143000"/>
            <a:ext cx="8283600" cy="88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a:t>Metodología </a:t>
            </a:r>
            <a:r>
              <a:rPr lang="es-419"/>
              <a:t>scrapping</a:t>
            </a:r>
            <a:endParaRPr/>
          </a:p>
        </p:txBody>
      </p:sp>
      <p:sp>
        <p:nvSpPr>
          <p:cNvPr id="428" name="Google Shape;428;p33"/>
          <p:cNvSpPr txBox="1"/>
          <p:nvPr>
            <p:ph idx="1" type="body"/>
          </p:nvPr>
        </p:nvSpPr>
        <p:spPr>
          <a:xfrm>
            <a:off x="364825" y="1107250"/>
            <a:ext cx="4066200" cy="1189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419" sz="1100"/>
              <a:t>Cruz Verde</a:t>
            </a:r>
            <a:endParaRPr b="1" sz="1100"/>
          </a:p>
          <a:p>
            <a:pPr indent="0" lvl="0" marL="0" rtl="0" algn="l">
              <a:spcBef>
                <a:spcPts val="1200"/>
              </a:spcBef>
              <a:spcAft>
                <a:spcPts val="0"/>
              </a:spcAft>
              <a:buNone/>
            </a:pPr>
            <a:r>
              <a:rPr lang="es-419" sz="1100"/>
              <a:t>Scraping de precios en line de productos de la canasta </a:t>
            </a:r>
            <a:r>
              <a:rPr lang="es-419" sz="1100"/>
              <a:t>básica</a:t>
            </a:r>
            <a:r>
              <a:rPr lang="es-419" sz="1100"/>
              <a:t>, extrayendo precio unitario por SKU</a:t>
            </a:r>
            <a:endParaRPr sz="1100"/>
          </a:p>
          <a:p>
            <a:pPr indent="0" lvl="0" marL="0" rtl="0" algn="l">
              <a:spcBef>
                <a:spcPts val="1200"/>
              </a:spcBef>
              <a:spcAft>
                <a:spcPts val="1200"/>
              </a:spcAft>
              <a:buNone/>
            </a:pPr>
            <a:r>
              <a:t/>
            </a:r>
            <a:endParaRPr sz="1100"/>
          </a:p>
        </p:txBody>
      </p:sp>
      <p:sp>
        <p:nvSpPr>
          <p:cNvPr id="429" name="Google Shape;429;p33"/>
          <p:cNvSpPr txBox="1"/>
          <p:nvPr>
            <p:ph idx="1" type="body"/>
          </p:nvPr>
        </p:nvSpPr>
        <p:spPr>
          <a:xfrm>
            <a:off x="364825" y="2464750"/>
            <a:ext cx="4066200" cy="1228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419" sz="1100"/>
              <a:t>Unimarc</a:t>
            </a:r>
            <a:endParaRPr b="1" sz="1100"/>
          </a:p>
          <a:p>
            <a:pPr indent="0" lvl="0" marL="0" rtl="0" algn="l">
              <a:spcBef>
                <a:spcPts val="1200"/>
              </a:spcBef>
              <a:spcAft>
                <a:spcPts val="0"/>
              </a:spcAft>
              <a:buNone/>
            </a:pPr>
            <a:r>
              <a:rPr lang="es-419" sz="1100"/>
              <a:t>Scraping del catálogo web de supermercado para obtener precios actualizados de alimentos esenciales </a:t>
            </a:r>
            <a:endParaRPr sz="1100"/>
          </a:p>
          <a:p>
            <a:pPr indent="0" lvl="0" marL="0" rtl="0" algn="l">
              <a:spcBef>
                <a:spcPts val="1200"/>
              </a:spcBef>
              <a:spcAft>
                <a:spcPts val="1200"/>
              </a:spcAft>
              <a:buNone/>
            </a:pPr>
            <a:r>
              <a:t/>
            </a:r>
            <a:endParaRPr sz="1100"/>
          </a:p>
        </p:txBody>
      </p:sp>
      <p:sp>
        <p:nvSpPr>
          <p:cNvPr id="430" name="Google Shape;430;p33"/>
          <p:cNvSpPr txBox="1"/>
          <p:nvPr>
            <p:ph idx="1" type="body"/>
          </p:nvPr>
        </p:nvSpPr>
        <p:spPr>
          <a:xfrm>
            <a:off x="4572000" y="1107250"/>
            <a:ext cx="4316700" cy="242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100" u="sng"/>
              <a:t>Librerías</a:t>
            </a:r>
            <a:r>
              <a:rPr b="1" lang="es-419" sz="1100" u="sng"/>
              <a:t> utilizadas: </a:t>
            </a:r>
            <a:endParaRPr b="1" sz="1100" u="sng"/>
          </a:p>
          <a:p>
            <a:pPr indent="-298450" lvl="0" marL="457200" rtl="0" algn="l">
              <a:spcBef>
                <a:spcPts val="1200"/>
              </a:spcBef>
              <a:spcAft>
                <a:spcPts val="0"/>
              </a:spcAft>
              <a:buClr>
                <a:srgbClr val="000000"/>
              </a:buClr>
              <a:buSzPts val="1100"/>
              <a:buChar char="●"/>
            </a:pPr>
            <a:r>
              <a:rPr b="1" lang="es-419" sz="1100"/>
              <a:t>Selenium: </a:t>
            </a:r>
            <a:r>
              <a:rPr b="1" lang="es-419" sz="1100"/>
              <a:t>Automatización</a:t>
            </a:r>
            <a:r>
              <a:rPr b="1" lang="es-419" sz="1100"/>
              <a:t> del navegador para </a:t>
            </a:r>
            <a:r>
              <a:rPr b="1" lang="es-419" sz="1100"/>
              <a:t>páginas</a:t>
            </a:r>
            <a:r>
              <a:rPr b="1" lang="es-419" sz="1100"/>
              <a:t> </a:t>
            </a:r>
            <a:r>
              <a:rPr b="1" lang="es-419" sz="1100"/>
              <a:t>dinámicas</a:t>
            </a:r>
            <a:r>
              <a:rPr b="1" lang="es-419" sz="1100"/>
              <a:t> con Javascript</a:t>
            </a:r>
            <a:endParaRPr b="1" sz="1100"/>
          </a:p>
          <a:p>
            <a:pPr indent="-298450" lvl="0" marL="457200" rtl="0" algn="l">
              <a:spcBef>
                <a:spcPts val="0"/>
              </a:spcBef>
              <a:spcAft>
                <a:spcPts val="0"/>
              </a:spcAft>
              <a:buClr>
                <a:srgbClr val="000000"/>
              </a:buClr>
              <a:buSzPts val="1100"/>
              <a:buChar char="●"/>
            </a:pPr>
            <a:r>
              <a:rPr b="1" lang="es-419" sz="1100"/>
              <a:t>BeautifulSoup: Parseo y </a:t>
            </a:r>
            <a:r>
              <a:rPr b="1" lang="es-419" sz="1100"/>
              <a:t>extracción</a:t>
            </a:r>
            <a:r>
              <a:rPr b="1" lang="es-419" sz="1100"/>
              <a:t> de contenido HTML de las </a:t>
            </a:r>
            <a:r>
              <a:rPr b="1" lang="es-419" sz="1100"/>
              <a:t>páginas</a:t>
            </a:r>
            <a:r>
              <a:rPr b="1" lang="es-419" sz="1100"/>
              <a:t> obtenidas</a:t>
            </a:r>
            <a:endParaRPr b="1" sz="1100"/>
          </a:p>
          <a:p>
            <a:pPr indent="-298450" lvl="0" marL="457200" rtl="0" algn="l">
              <a:spcBef>
                <a:spcPts val="0"/>
              </a:spcBef>
              <a:spcAft>
                <a:spcPts val="0"/>
              </a:spcAft>
              <a:buClr>
                <a:srgbClr val="000000"/>
              </a:buClr>
              <a:buSzPts val="1100"/>
              <a:buChar char="●"/>
            </a:pPr>
            <a:r>
              <a:rPr b="1" lang="es-419" sz="1100"/>
              <a:t>Pandas: </a:t>
            </a:r>
            <a:r>
              <a:rPr b="1" lang="es-419" sz="1100"/>
              <a:t>Estructuración</a:t>
            </a:r>
            <a:r>
              <a:rPr b="1" lang="es-419" sz="1100"/>
              <a:t>, limpieza y </a:t>
            </a:r>
            <a:r>
              <a:rPr b="1" lang="es-419" sz="1100"/>
              <a:t>análisis</a:t>
            </a:r>
            <a:r>
              <a:rPr b="1" lang="es-419" sz="1100"/>
              <a:t> de datos de precios </a:t>
            </a:r>
            <a:r>
              <a:rPr b="1" lang="es-419" sz="1100"/>
              <a:t>extraídos</a:t>
            </a:r>
            <a:endParaRPr b="1" sz="1100"/>
          </a:p>
          <a:p>
            <a:pPr indent="-298450" lvl="0" marL="457200" rtl="0" algn="l">
              <a:spcBef>
                <a:spcPts val="0"/>
              </a:spcBef>
              <a:spcAft>
                <a:spcPts val="0"/>
              </a:spcAft>
              <a:buClr>
                <a:srgbClr val="000000"/>
              </a:buClr>
              <a:buSzPts val="1100"/>
              <a:buChar char="●"/>
            </a:pPr>
            <a:r>
              <a:rPr b="1" lang="es-419" sz="1100"/>
              <a:t>OS/Time/Re </a:t>
            </a:r>
            <a:r>
              <a:rPr b="1" lang="es-419" sz="1100"/>
              <a:t>Gestión</a:t>
            </a:r>
            <a:r>
              <a:rPr b="1" lang="es-419" sz="1100"/>
              <a:t> de archivos, pausas aleatorias y expresiones regulares.</a:t>
            </a:r>
            <a:endParaRPr b="1" sz="1100"/>
          </a:p>
          <a:p>
            <a:pPr indent="0" lvl="0" marL="914400" rtl="0" algn="l">
              <a:spcBef>
                <a:spcPts val="1200"/>
              </a:spcBef>
              <a:spcAft>
                <a:spcPts val="1200"/>
              </a:spcAft>
              <a:buNone/>
            </a:pPr>
            <a:r>
              <a:t/>
            </a:r>
            <a:endParaRPr b="1"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p34"/>
          <p:cNvPicPr preferRelativeResize="0"/>
          <p:nvPr/>
        </p:nvPicPr>
        <p:blipFill>
          <a:blip r:embed="rId3">
            <a:alphaModFix/>
          </a:blip>
          <a:stretch>
            <a:fillRect/>
          </a:stretch>
        </p:blipFill>
        <p:spPr>
          <a:xfrm>
            <a:off x="1101250" y="768000"/>
            <a:ext cx="6941500" cy="3726899"/>
          </a:xfrm>
          <a:prstGeom prst="rect">
            <a:avLst/>
          </a:prstGeom>
          <a:noFill/>
          <a:ln>
            <a:noFill/>
          </a:ln>
        </p:spPr>
      </p:pic>
      <p:sp>
        <p:nvSpPr>
          <p:cNvPr id="436" name="Google Shape;436;p34"/>
          <p:cNvSpPr txBox="1"/>
          <p:nvPr>
            <p:ph type="title"/>
          </p:nvPr>
        </p:nvSpPr>
        <p:spPr>
          <a:xfrm>
            <a:off x="391150" y="0"/>
            <a:ext cx="8039100" cy="88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419" sz="2000"/>
              <a:t> </a:t>
            </a:r>
            <a:r>
              <a:rPr lang="es-419" sz="2000"/>
              <a:t>Evolución</a:t>
            </a:r>
            <a:r>
              <a:rPr lang="es-419" sz="2000"/>
              <a:t> de la canasta de </a:t>
            </a:r>
            <a:r>
              <a:rPr lang="es-419" sz="2000"/>
              <a:t>recién</a:t>
            </a:r>
            <a:r>
              <a:rPr lang="es-419" sz="2000"/>
              <a:t> nacido</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5"/>
          <p:cNvSpPr txBox="1"/>
          <p:nvPr>
            <p:ph type="title"/>
          </p:nvPr>
        </p:nvSpPr>
        <p:spPr>
          <a:xfrm>
            <a:off x="1655550" y="44975"/>
            <a:ext cx="5832900" cy="136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Discusiones</a:t>
            </a:r>
            <a:endParaRPr/>
          </a:p>
        </p:txBody>
      </p:sp>
      <p:sp>
        <p:nvSpPr>
          <p:cNvPr id="442" name="Google Shape;442;p35"/>
          <p:cNvSpPr txBox="1"/>
          <p:nvPr>
            <p:ph idx="1" type="body"/>
          </p:nvPr>
        </p:nvSpPr>
        <p:spPr>
          <a:xfrm>
            <a:off x="4730700" y="1502625"/>
            <a:ext cx="3935100" cy="152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100"/>
              <a:t>Postergación</a:t>
            </a:r>
            <a:r>
              <a:rPr b="1" lang="es-419" sz="1100"/>
              <a:t> de la maternidad</a:t>
            </a:r>
            <a:endParaRPr b="1" sz="1100"/>
          </a:p>
          <a:p>
            <a:pPr indent="0" lvl="0" marL="0" rtl="0" algn="l">
              <a:spcBef>
                <a:spcPts val="1200"/>
              </a:spcBef>
              <a:spcAft>
                <a:spcPts val="1200"/>
              </a:spcAft>
              <a:buNone/>
            </a:pPr>
            <a:r>
              <a:rPr lang="es-419" sz="1100"/>
              <a:t>La </a:t>
            </a:r>
            <a:r>
              <a:rPr lang="es-419" sz="1100"/>
              <a:t>extensión</a:t>
            </a:r>
            <a:r>
              <a:rPr lang="es-419" sz="1100"/>
              <a:t> de años de escolaridad y la </a:t>
            </a:r>
            <a:r>
              <a:rPr lang="es-419" sz="1100"/>
              <a:t>búsqueda</a:t>
            </a:r>
            <a:r>
              <a:rPr lang="es-419" sz="1100"/>
              <a:t> de estabilidad </a:t>
            </a:r>
            <a:r>
              <a:rPr lang="es-419" sz="1100"/>
              <a:t>económica</a:t>
            </a:r>
            <a:r>
              <a:rPr lang="es-419" sz="1100"/>
              <a:t> reducen el tamaño del grupo familiar de forma definitiva. </a:t>
            </a:r>
            <a:endParaRPr sz="1100"/>
          </a:p>
        </p:txBody>
      </p:sp>
      <p:sp>
        <p:nvSpPr>
          <p:cNvPr id="443" name="Google Shape;443;p35"/>
          <p:cNvSpPr txBox="1"/>
          <p:nvPr>
            <p:ph idx="1" type="body"/>
          </p:nvPr>
        </p:nvSpPr>
        <p:spPr>
          <a:xfrm>
            <a:off x="364825" y="1502625"/>
            <a:ext cx="4066200" cy="152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100"/>
              <a:t>Invierno </a:t>
            </a:r>
            <a:r>
              <a:rPr b="1" lang="es-419" sz="1100"/>
              <a:t>Demográfico</a:t>
            </a:r>
            <a:r>
              <a:rPr b="1" lang="es-419" sz="1100"/>
              <a:t> Confirmado</a:t>
            </a:r>
            <a:endParaRPr b="1" sz="1100"/>
          </a:p>
          <a:p>
            <a:pPr indent="0" lvl="0" marL="0" rtl="0" algn="l">
              <a:spcBef>
                <a:spcPts val="1200"/>
              </a:spcBef>
              <a:spcAft>
                <a:spcPts val="0"/>
              </a:spcAft>
              <a:buNone/>
            </a:pPr>
            <a:r>
              <a:rPr lang="es-419" sz="1100"/>
              <a:t>El Análisis Exploratorio de Datos (AED) confirma que Chile vive una caída </a:t>
            </a:r>
            <a:r>
              <a:rPr lang="es-419" sz="1100"/>
              <a:t>estructural y sostenida que va </a:t>
            </a:r>
            <a:r>
              <a:rPr lang="es-419" sz="1100"/>
              <a:t>más</a:t>
            </a:r>
            <a:r>
              <a:rPr lang="es-419" sz="1100"/>
              <a:t> </a:t>
            </a:r>
            <a:r>
              <a:rPr lang="es-419" sz="1100"/>
              <a:t>allá</a:t>
            </a:r>
            <a:r>
              <a:rPr lang="es-419" sz="1100"/>
              <a:t> de factores coyunturales como la pandemia. </a:t>
            </a:r>
            <a:endParaRPr sz="1100"/>
          </a:p>
          <a:p>
            <a:pPr indent="0" lvl="0" marL="0" rtl="0" algn="l">
              <a:spcBef>
                <a:spcPts val="1200"/>
              </a:spcBef>
              <a:spcAft>
                <a:spcPts val="1200"/>
              </a:spcAft>
              <a:buNone/>
            </a:pPr>
            <a:r>
              <a:t/>
            </a:r>
            <a:endParaRPr sz="1100"/>
          </a:p>
        </p:txBody>
      </p:sp>
      <p:sp>
        <p:nvSpPr>
          <p:cNvPr id="444" name="Google Shape;444;p35"/>
          <p:cNvSpPr txBox="1"/>
          <p:nvPr>
            <p:ph idx="1" type="body"/>
          </p:nvPr>
        </p:nvSpPr>
        <p:spPr>
          <a:xfrm>
            <a:off x="4734575" y="3443625"/>
            <a:ext cx="4066200" cy="145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100"/>
              <a:t>Impacto en el Estado y Seguridad Social </a:t>
            </a:r>
            <a:endParaRPr b="1" sz="1100"/>
          </a:p>
          <a:p>
            <a:pPr indent="0" lvl="0" marL="0" rtl="0" algn="l">
              <a:spcBef>
                <a:spcPts val="1200"/>
              </a:spcBef>
              <a:spcAft>
                <a:spcPts val="1200"/>
              </a:spcAft>
              <a:buNone/>
            </a:pPr>
            <a:r>
              <a:rPr lang="es-419" sz="1100"/>
              <a:t>El </a:t>
            </a:r>
            <a:r>
              <a:rPr lang="es-419" sz="1100"/>
              <a:t>envejecimiento</a:t>
            </a:r>
            <a:r>
              <a:rPr lang="es-419" sz="1100"/>
              <a:t> relativo presionara los sistemas de salud y pensiones, reduciendo </a:t>
            </a:r>
            <a:r>
              <a:rPr lang="es-419" sz="1100"/>
              <a:t>simultáneamente</a:t>
            </a:r>
            <a:r>
              <a:rPr lang="es-419" sz="1100"/>
              <a:t> la fuerza laboral futura.</a:t>
            </a:r>
            <a:endParaRPr sz="1100"/>
          </a:p>
        </p:txBody>
      </p:sp>
      <p:sp>
        <p:nvSpPr>
          <p:cNvPr id="445" name="Google Shape;445;p35"/>
          <p:cNvSpPr txBox="1"/>
          <p:nvPr>
            <p:ph idx="1" type="body"/>
          </p:nvPr>
        </p:nvSpPr>
        <p:spPr>
          <a:xfrm>
            <a:off x="334825" y="3443600"/>
            <a:ext cx="4066200" cy="145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100"/>
              <a:t>Nuevas </a:t>
            </a:r>
            <a:r>
              <a:rPr b="1" lang="es-419" sz="1100"/>
              <a:t>Estructuras</a:t>
            </a:r>
            <a:r>
              <a:rPr b="1" lang="es-419" sz="1100"/>
              <a:t> Familiares</a:t>
            </a:r>
            <a:endParaRPr b="1" sz="1100"/>
          </a:p>
          <a:p>
            <a:pPr indent="0" lvl="0" marL="0" rtl="0" algn="l">
              <a:spcBef>
                <a:spcPts val="1200"/>
              </a:spcBef>
              <a:spcAft>
                <a:spcPts val="1200"/>
              </a:spcAft>
              <a:buNone/>
            </a:pPr>
            <a:r>
              <a:rPr lang="es-419" sz="1100"/>
              <a:t>La </a:t>
            </a:r>
            <a:r>
              <a:rPr lang="es-419" sz="1100"/>
              <a:t>consolidación</a:t>
            </a:r>
            <a:r>
              <a:rPr lang="es-419" sz="1100"/>
              <a:t> de nacimientos fuera del matrimonio exige </a:t>
            </a:r>
            <a:r>
              <a:rPr lang="es-419" sz="1100"/>
              <a:t>políticas</a:t>
            </a:r>
            <a:r>
              <a:rPr lang="es-419" sz="1100"/>
              <a:t> </a:t>
            </a:r>
            <a:r>
              <a:rPr lang="es-419" sz="1100"/>
              <a:t>públicas</a:t>
            </a:r>
            <a:r>
              <a:rPr lang="es-419" sz="1100"/>
              <a:t> que </a:t>
            </a:r>
            <a:r>
              <a:rPr lang="es-419" sz="1100"/>
              <a:t>reconozcan</a:t>
            </a:r>
            <a:r>
              <a:rPr lang="es-419" sz="1100"/>
              <a:t> y apoyen la diversidad familiar.</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6"/>
          <p:cNvSpPr txBox="1"/>
          <p:nvPr>
            <p:ph type="title"/>
          </p:nvPr>
        </p:nvSpPr>
        <p:spPr>
          <a:xfrm>
            <a:off x="1828475" y="158850"/>
            <a:ext cx="5370300" cy="1029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SzPts val="990"/>
              <a:buNone/>
            </a:pPr>
            <a:r>
              <a:rPr lang="es-419"/>
              <a:t>Conclusiones</a:t>
            </a:r>
            <a:endParaRPr/>
          </a:p>
        </p:txBody>
      </p:sp>
      <p:sp>
        <p:nvSpPr>
          <p:cNvPr id="451" name="Google Shape;451;p36"/>
          <p:cNvSpPr txBox="1"/>
          <p:nvPr>
            <p:ph idx="1" type="body"/>
          </p:nvPr>
        </p:nvSpPr>
        <p:spPr>
          <a:xfrm>
            <a:off x="746400" y="1137325"/>
            <a:ext cx="7651200" cy="3810300"/>
          </a:xfrm>
          <a:prstGeom prst="rect">
            <a:avLst/>
          </a:prstGeom>
          <a:gradFill>
            <a:gsLst>
              <a:gs pos="0">
                <a:srgbClr val="DCECD5"/>
              </a:gs>
              <a:gs pos="100000">
                <a:srgbClr val="92BC81"/>
              </a:gs>
            </a:gsLst>
            <a:lin ang="5400012" scaled="0"/>
          </a:gra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es-419" sz="1100"/>
              <a:t>¿Qué tendencias poblacionales se proyectan a largo plazo a partir de la evolución de la natalidad en Chile?</a:t>
            </a:r>
            <a:endParaRPr b="1" sz="1100"/>
          </a:p>
          <a:p>
            <a:pPr indent="0" lvl="0" marL="0" rtl="0" algn="l">
              <a:spcBef>
                <a:spcPts val="1200"/>
              </a:spcBef>
              <a:spcAft>
                <a:spcPts val="0"/>
              </a:spcAft>
              <a:buNone/>
            </a:pPr>
            <a:r>
              <a:rPr lang="es-419" sz="1100">
                <a:latin typeface="Arial"/>
                <a:ea typeface="Arial"/>
                <a:cs typeface="Arial"/>
                <a:sym typeface="Arial"/>
              </a:rPr>
              <a:t>Chile se encamina hacia un envejecimiento poblacional acelerado. Al observar que la tasa de natalidad ha caído por debajo del nivel de reemplazo (2,2 hijos por mujer), la proyección a largo plazo es una reducción de la fuerza laboral joven. Además, la tendencia muestra una concentración urbana de la natalidad, mientras que las zonas rurales enfrentan un despoblamiento progresivo. En resumen, pasamos de una sociedad en crecimiento a una en decrecimiento en las próximas dos décadas según los datos extraídos.</a:t>
            </a:r>
            <a:endParaRPr sz="1100"/>
          </a:p>
          <a:p>
            <a:pPr indent="0" lvl="0" marL="0" rtl="0" algn="l">
              <a:spcBef>
                <a:spcPts val="1200"/>
              </a:spcBef>
              <a:spcAft>
                <a:spcPts val="0"/>
              </a:spcAft>
              <a:buNone/>
            </a:pPr>
            <a:r>
              <a:rPr b="1" lang="es-419" sz="1100"/>
              <a:t>¿Cuales son los principales factores socioeconómicos y demográficos que han influido en el descenso de la natalidad en los últimos años?</a:t>
            </a:r>
            <a:endParaRPr b="1" sz="1100"/>
          </a:p>
          <a:p>
            <a:pPr indent="-298450" lvl="0" marL="457200" rtl="0" algn="l">
              <a:spcBef>
                <a:spcPts val="1200"/>
              </a:spcBef>
              <a:spcAft>
                <a:spcPts val="0"/>
              </a:spcAft>
              <a:buClr>
                <a:srgbClr val="000000"/>
              </a:buClr>
              <a:buSzPts val="1100"/>
              <a:buFont typeface="Arial"/>
              <a:buAutoNum type="arabicPeriod"/>
            </a:pPr>
            <a:r>
              <a:rPr b="1" lang="es-419" sz="1100">
                <a:latin typeface="Arial"/>
                <a:ea typeface="Arial"/>
                <a:cs typeface="Arial"/>
                <a:sym typeface="Arial"/>
              </a:rPr>
              <a:t>Socioeducativos:</a:t>
            </a:r>
            <a:r>
              <a:rPr lang="es-419" sz="1100">
                <a:latin typeface="Arial"/>
                <a:ea typeface="Arial"/>
                <a:cs typeface="Arial"/>
                <a:sym typeface="Arial"/>
              </a:rPr>
              <a:t> Las extensión de estudios posterga el peak de natalidad hacia los de los 20-24 años a los 30-34 años, reduciendo el tamaño final de las familias, evidenciando una  correlación directa entre el acceso a la educación superior y el retraso de la maternidad.</a:t>
            </a:r>
            <a:endParaRPr sz="1100">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s-419" sz="1100">
                <a:latin typeface="Arial"/>
                <a:ea typeface="Arial"/>
                <a:cs typeface="Arial"/>
                <a:sym typeface="Arial"/>
              </a:rPr>
              <a:t>Económicos:</a:t>
            </a:r>
            <a:r>
              <a:rPr lang="es-419" sz="1100">
                <a:latin typeface="Arial"/>
                <a:ea typeface="Arial"/>
                <a:cs typeface="Arial"/>
                <a:sym typeface="Arial"/>
              </a:rPr>
              <a:t> Los altos costos de vida (vivienda y educación) y la precariedad laboral actúan como barreras para la procreación.</a:t>
            </a:r>
            <a:endParaRPr sz="1100">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es-419" sz="1100">
                <a:latin typeface="Arial"/>
                <a:ea typeface="Arial"/>
                <a:cs typeface="Arial"/>
                <a:sym typeface="Arial"/>
              </a:rPr>
              <a:t>Culturales:</a:t>
            </a:r>
            <a:r>
              <a:rPr lang="es-419" sz="1100">
                <a:latin typeface="Arial"/>
                <a:ea typeface="Arial"/>
                <a:cs typeface="Arial"/>
                <a:sym typeface="Arial"/>
              </a:rPr>
              <a:t> La consolidación de nacimientos fuera del matrimonio refleja un cambio estructural en los modelos familiares chilenos con una menor presión social por formar familias tradicionales tempranas.</a:t>
            </a:r>
            <a:endParaRPr sz="1100">
              <a:latin typeface="Arial"/>
              <a:ea typeface="Arial"/>
              <a:cs typeface="Arial"/>
              <a:sym typeface="Arial"/>
            </a:endParaRPr>
          </a:p>
          <a:p>
            <a:pPr indent="0" lvl="0" marL="457200" rtl="0" algn="l">
              <a:spcBef>
                <a:spcPts val="1200"/>
              </a:spcBef>
              <a:spcAft>
                <a:spcPts val="1200"/>
              </a:spcAft>
              <a:buNone/>
            </a:pPr>
            <a:r>
              <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